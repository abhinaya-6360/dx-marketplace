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f4f70a1-ee17-3094-229b-9de4008a6b7f}">
          <p14:sldIdLst>
            <p14:sldId id="256"/>
          </p14:sldIdLst>
        </p14:section>
        <p14:section name="Structure" id="{24c597ad-0caf-37ce-dc8f-20bb6ade9ef6}">
          <p14:sldIdLst>
            <p14:sldId id="257"/>
            <p14:sldId id="258"/>
            <p14:sldId id="259"/>
          </p14:sldIdLst>
        </p14:section>
        <p14:section name="Story" id="{3b795211-dfb7-6498-e2e2-5682b6e7c1ae}">
          <p14:sldIdLst>
            <p14:sldId id="260"/>
            <p14:sldId id="261"/>
            <p14:sldId id="262"/>
            <p14:sldId id="263"/>
            <p14:sldId id="264"/>
          </p14:sldIdLst>
        </p14:section>
        <p14:section name="Process and plans" id="{eed4f7d0-5541-ba87-998c-76fadd25864e}">
          <p14:sldIdLst>
            <p14:sldId id="265"/>
            <p14:sldId id="266"/>
          </p14:sldIdLst>
        </p14:section>
        <p14:section name="Product" id="{3007970d-6c50-ae4f-c28c-13cf54d4a21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Data" id="{e89a5919-67c0-780e-7e51-8445d1f3d56c}">
          <p14:sldIdLst>
            <p14:sldId id="275"/>
            <p14:sldId id="276"/>
            <p14:sldId id="277"/>
          </p14:sldIdLst>
        </p14:section>
        <p14:section name="Proof" id="{c79626c4-5626-8b0e-c1f2-72f5c9bc05de}">
          <p14:sldIdLst>
            <p14:sldId id="278"/>
            <p14:sldId id="279"/>
            <p14:sldId id="280"/>
            <p14:sldId id="281"/>
          </p14:sldIdLst>
        </p14:section>
        <p14:section name="Closing" id="{034791b4-8722-758b-016e-e4b1ad8bc12e}">
          <p14:sldIdLst>
            <p14:sldId id="282"/>
            <p14:sldId id="283"/>
            <p14:sldId id="284"/>
            <p14:sldId id="285"/>
          </p14:sldIdLst>
        </p14:section>
        <p14:section name="Extra slides" id="{f1470d6f-dc56-8ac8-98d8-893c1001589d}">
          <p14:sldIdLst>
            <p14:sldId id="286"/>
          </p14:sldIdLst>
        </p14:section>
        <p14:section name="Extras · Openers" id="{350afb4b-385e-4aa2-005b-900d557a63c7}">
          <p14:sldIdLst>
            <p14:sldId id="287"/>
            <p14:sldId id="288"/>
          </p14:sldIdLst>
        </p14:section>
        <p14:section name="Extras · Structure" id="{07cb0db6-48b5-02c7-9f09-b66eb8e3a168}">
          <p14:sldIdLst>
            <p14:sldId id="289"/>
          </p14:sldIdLst>
        </p14:section>
        <p14:section name="Extras · Story" id="{e08e6fcf-dc5c-0e89-b9b6-a30c35cc0898}">
          <p14:sldIdLst>
            <p14:sldId id="290"/>
            <p14:sldId id="291"/>
            <p14:sldId id="292"/>
          </p14:sldIdLst>
        </p14:section>
        <p14:section name="Extras · Product" id="{10bd3f82-038f-e7a0-245c-36fde87aa4da}">
          <p14:sldIdLst>
            <p14:sldId id="293"/>
            <p14:sldId id="294"/>
            <p14:sldId id="295"/>
          </p14:sldIdLst>
        </p14:section>
        <p14:section name="Extras · Data" id="{6a3c911c-100c-8cb8-75e7-2094f5f2295a}">
          <p14:sldIdLst>
            <p14:sldId id="296"/>
            <p14:sldId id="297"/>
            <p14:sldId id="298"/>
            <p14:sldId id="299"/>
          </p14:sldIdLst>
        </p14:section>
        <p14:section name="Extras · Proof" id="{547c26c4-94fa-be3a-e3fa-0b718bc46a51}">
          <p14:sldIdLst>
            <p14:sldId id="300"/>
          </p14:sldIdLst>
        </p14:section>
        <p14:section name="Extras · Closing" id="{890b14cc-c0c3-aadf-f271-b7ccc388d8f5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4EF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3BCF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ED70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788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F919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Operations</c:v>
                </c:pt>
                <c:pt idx="1">
                  <c:v>Finance</c:v>
                </c:pt>
                <c:pt idx="2">
                  <c:v>HR</c:v>
                </c:pt>
                <c:pt idx="3">
                  <c:v>IT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cover. Replace the title, description, presenter and date. The Weave pattern on the right stays as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up to four sections. The number on the right is the slide where each section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Change the number and title for each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idea, one sentence. To swap the photo: select it, then choose Replace image. Keep the same crop so faces and key details stay clear of the text. Use a scene, not a close-up face, so the blue overlay reads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Two-line headline: the problem in ink, the turn in blue. Replace the stat and its source; always cite where a number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card: the problems. Right card: what changes with Creator. Keep three short lines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capabilities. Swap icons to match each one (Insert → Icon, then recolour to brand blue).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holds a screenshot. Replace the sample screens with real product screenshots (select → Replace image, or paste a new screenshot on top).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Half-page photo. To swap the photo: select it, then choose Replace image. Keep the same crop so faces and key details stay clear of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Fill the first circle to show where you are, or fill all of them for a finished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quarters. Keep each card to a name and one line; highlight the current quarter in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window on the right is a sample product screen drawn with shapes. Replace it with a real screenshot: paste the screenshot, size it to the window, and delete the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video over the dark frame (Insert → Video) and size it to fit, then delete the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markers on the screenshot match the numbered list. Move the markers onto the parts of your real screenshot they describe.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overview. Apps sit on the inner ring, AI agents on the outer ring (violet is for AI only). Edit any label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slides only: the blue-to-violet gradient is reserved for AI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sample phone screens drawn with shapes. Replace them with real app screenshots placed inside the phone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partner logo tiles with approved partner logos only. The integration count is sample content: confirm the current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every certification with the Zoho security team before sharing externally.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key numbers. Keep each label short; cite sources in the speaker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drawn with shapes so it looks the same in Zoho Show. To change a value, resize the bar (100 units = 115px of height) and update the label, or replace it with Show’s own chart (Insert → Chart). Colour order: blue, then light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doughnut chart: right-click → Edit data. Update the legend values on the right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photos sit inside the diamond frame. To swap the photo: select it, then choose Replace image. Keep the same crop so faces and key details stay clear of the text. Use head-and-shoulders photos on a plain background; the light blue backdrop keeps mixed photos looking like one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cut-out photo sits on the brand diamond. To change it, use a cut-out (transparent background) photo of the customer: select → Replace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panel: customer facts. Right: objective, solution and results. Replace the logo with an approved customer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 wall. The names are fictional samples: replace each tile with an approved customer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samples: always check the current pricing page. The primary (red) button marks the one action you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slide. Replace the sample screen with the screen you’ll demo, or a QR code to book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clear next steps: what, who,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email. The Zoho logo marks Creator as a Zoho product; keep it small, below the Creator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opener for keynotes and conferences. Replace the event name, title, date, location and speaker.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with a photo. To swap the photo: select it, then choose Replace image. Keep the same crop so faces and key details stay clear of the text. Choose a photo with calm space on the left, where the text sits; the navy overlay keeps it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Change the number and title for each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 of the solution. Blue, green and navy mark each pillar.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use cases by team. Replace with the teams your audience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on the left, after on the right. Keep the after card in blue so the change reads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product reveal on the Midnight gradient. Replace the sample screen with a real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over the pattern edge. Paste your screenshot inside the black backdrop (28px border) and delete the sample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top to bottom. Darker bands sit at the top; keep the order from user-facing to back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chart drawn with shapes so it imports into Zoho Show. To change a value, move the point and its two line ends, or replace the whole chart with Show’s own chart (Insert → Chart). Numbers are thousands of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outcome numbers. They are sample figures: replace them with verified customer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 from first touch to customer. Bar lengths are visual only; update the numbers and percentages.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table. Keep Creator in the highlighted blue column; keep claims fair and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strong quote. To swap the photo: select it, then choose Replace image. Keep the same crop so faces and key details stay clear of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speaker details and the QR code (generate one that links to your demo or contact page).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DS Content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000"/>
              </a:lnSpc>
              <a:buNone/>
              <a:defRPr lang="en-US" sz="3600" b="1" dirty="0">
                <a:solidFill>
                  <a:srgbClr val="25272C"/>
                </a:solidFill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Slide title in sentence case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DS Content Dark">
    <p:bg>
      <p:bgPr>
        <a:solidFill>
          <a:srgbClr val="041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E6FD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000"/>
              </a:lnSpc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Slide title in sentence case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DDE6F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DS Content Light No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DS Content Dark No Title">
    <p:bg>
      <p:bgPr>
        <a:solidFill>
          <a:srgbClr val="041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E6FD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DDE6F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DS Cover and 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1.png"/><Relationship Id="rId6" Type="http://schemas.openxmlformats.org/officeDocument/2006/relationships/image" Target="../media/image-19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1.png"/><Relationship Id="rId4" Type="http://schemas.openxmlformats.org/officeDocument/2006/relationships/image" Target="../media/image-23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4.png"/><Relationship Id="rId5" Type="http://schemas.openxmlformats.org/officeDocument/2006/relationships/image" Target="../media/image-25-4.png"/><Relationship Id="rId6" Type="http://schemas.openxmlformats.org/officeDocument/2006/relationships/image" Target="../media/image-25-4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1.png"/><Relationship Id="rId4" Type="http://schemas.openxmlformats.org/officeDocument/2006/relationships/image" Target="../media/image-27-1.png"/><Relationship Id="rId5" Type="http://schemas.openxmlformats.org/officeDocument/2006/relationships/image" Target="../media/image-27-1.png"/><Relationship Id="rId6" Type="http://schemas.openxmlformats.org/officeDocument/2006/relationships/image" Target="../media/image-27-1.png"/><Relationship Id="rId7" Type="http://schemas.openxmlformats.org/officeDocument/2006/relationships/image" Target="../media/image-27-1.png"/><Relationship Id="rId8" Type="http://schemas.openxmlformats.org/officeDocument/2006/relationships/image" Target="../media/image-27-1.png"/><Relationship Id="rId9" Type="http://schemas.openxmlformats.org/officeDocument/2006/relationships/image" Target="../media/image-27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1.png"/><Relationship Id="rId3" Type="http://schemas.openxmlformats.org/officeDocument/2006/relationships/image" Target="../media/image-37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09600"/>
            <a:ext cx="1270000" cy="399915"/>
          </a:xfrm>
          <a:prstGeom prst="rect">
            <a:avLst/>
          </a:prstGeom>
        </p:spPr>
      </p:pic>
      <p:pic>
        <p:nvPicPr>
          <p:cNvPr id="3" name="Pattern · Weave" descr="img/weav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0"/>
            <a:ext cx="190500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62000" y="19050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PRESENTATION TITLE</a:t>
            </a:r>
            <a:endParaRPr lang="en-US" sz="1000" dirty="0"/>
          </a:p>
        </p:txBody>
      </p:sp>
      <p:sp>
        <p:nvSpPr>
          <p:cNvPr id="5" name="Title"/>
          <p:cNvSpPr txBox="1"/>
          <p:nvPr/>
        </p:nvSpPr>
        <p:spPr>
          <a:xfrm>
            <a:off x="762000" y="2159000"/>
            <a:ext cx="8890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5272C"/>
                </a:solidFill>
              </a:rPr>
              <a:t>Clean. Bold. Focused.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62000" y="2984500"/>
            <a:ext cx="6350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one-line description of what this presentation covers and who it’s for.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2000" y="5715000"/>
            <a:ext cx="2159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PRESENTER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762000" y="58928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Name · Designation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175000" y="5715000"/>
            <a:ext cx="2159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DATE</a:t>
            </a:r>
            <a:endParaRPr lang="en-US" sz="700" dirty="0"/>
          </a:p>
        </p:txBody>
      </p:sp>
      <p:sp>
        <p:nvSpPr>
          <p:cNvPr id="10" name="Text 6"/>
          <p:cNvSpPr txBox="1"/>
          <p:nvPr/>
        </p:nvSpPr>
        <p:spPr>
          <a:xfrm>
            <a:off x="3175000" y="58928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Month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1971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349500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4EF2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78000" y="2374900"/>
            <a:ext cx="6985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First topic or section title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68000" y="2400300"/>
            <a:ext cx="76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9591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2000" y="3111500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4EF2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78000" y="3136900"/>
            <a:ext cx="6985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Second topic or section title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668000" y="3162300"/>
            <a:ext cx="76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07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7211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2000" y="3873500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4EF2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778000" y="3898900"/>
            <a:ext cx="6985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Third topic or section title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668000" y="3924300"/>
            <a:ext cx="76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2000" y="44831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2000" y="4635500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4EF2"/>
                </a:solidFill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78000" y="4660900"/>
            <a:ext cx="6985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Fourth topic or section title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668000" y="4686300"/>
            <a:ext cx="76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 · Chain" descr="img/chain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0"/>
            <a:ext cx="1524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2000" y="2413000"/>
            <a:ext cx="1905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4EF2"/>
                </a:solidFill>
              </a:rPr>
              <a:t>01</a:t>
            </a:r>
            <a:endParaRPr lang="en-US" sz="4000" dirty="0"/>
          </a:p>
        </p:txBody>
      </p:sp>
      <p:sp>
        <p:nvSpPr>
          <p:cNvPr id="4" name="Title"/>
          <p:cNvSpPr txBox="1"/>
          <p:nvPr/>
        </p:nvSpPr>
        <p:spPr>
          <a:xfrm>
            <a:off x="762000" y="3048000"/>
            <a:ext cx="889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5272C"/>
                </a:solidFill>
              </a:rPr>
              <a:t>Section title goes here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62000" y="3810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An optional one-line summary of what this section covers.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644"/>
          </a:solidFill>
          <a:ln/>
        </p:spPr>
      </p:sp>
      <p:pic>
        <p:nvPicPr>
          <p:cNvPr id="3" name="Photo (replace)" descr="img/photo_ware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Navy overlay" descr="img/overlay_stat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Footer logo" descr="img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6" name="Footer URL"/>
          <p:cNvSpPr txBox="1"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E6FD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7" name="Text 2"/>
          <p:cNvSpPr txBox="1"/>
          <p:nvPr/>
        </p:nvSpPr>
        <p:spPr>
          <a:xfrm>
            <a:off x="762000" y="31750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ED70B"/>
                </a:solidFill>
              </a:rPr>
              <a:t>STATEMENT</a:t>
            </a:r>
            <a:endParaRPr lang="en-US" sz="1000" dirty="0"/>
          </a:p>
        </p:txBody>
      </p:sp>
      <p:sp>
        <p:nvSpPr>
          <p:cNvPr id="8" name="Statement"/>
          <p:cNvSpPr txBox="1"/>
          <p:nvPr/>
        </p:nvSpPr>
        <p:spPr>
          <a:xfrm>
            <a:off x="762000" y="3429000"/>
            <a:ext cx="6985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A powerful statement that drives impact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762000" y="48260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EDFE"/>
                </a:solidFill>
              </a:rPr>
              <a:t>An optional supporting line under the statement.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DDE6F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120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01 / THE PROBLEM</a:t>
            </a:r>
            <a:endParaRPr lang="en-US" sz="1000" dirty="0"/>
          </a:p>
        </p:txBody>
      </p:sp>
      <p:sp>
        <p:nvSpPr>
          <p:cNvPr id="3" name="Title line 1"/>
          <p:cNvSpPr txBox="1"/>
          <p:nvPr/>
        </p:nvSpPr>
        <p:spPr>
          <a:xfrm>
            <a:off x="762000" y="1460500"/>
            <a:ext cx="889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5272C"/>
                </a:solidFill>
              </a:rPr>
              <a:t>Your roadmap is full.</a:t>
            </a:r>
            <a:endParaRPr lang="en-US" sz="4000" dirty="0"/>
          </a:p>
        </p:txBody>
      </p:sp>
      <p:sp>
        <p:nvSpPr>
          <p:cNvPr id="4" name="Title line 2"/>
          <p:cNvSpPr txBox="1"/>
          <p:nvPr/>
        </p:nvSpPr>
        <p:spPr>
          <a:xfrm>
            <a:off x="762000" y="2019300"/>
            <a:ext cx="889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4EF2"/>
                </a:solidFill>
              </a:rPr>
              <a:t>Your IT team isn’t.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111500"/>
            <a:ext cx="571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Every team has a backlog of “can we build a tool for X?”: approvals, field data, partner portals, ops dashboards. Most never get built.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2857500"/>
            <a:ext cx="3302000" cy="2286000"/>
          </a:xfrm>
          <a:prstGeom prst="roundRect">
            <a:avLst>
              <a:gd name="adj" fmla="val 2222"/>
            </a:avLst>
          </a:prstGeom>
          <a:solidFill>
            <a:srgbClr val="F5F8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82000" y="3111500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GARTNER, 2025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382000" y="33655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4EF2"/>
                </a:solidFill>
              </a:rPr>
              <a:t>70%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382000" y="40335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of new business apps will be built with low-code by 2027.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From problem to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5207000" cy="292100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2527300"/>
            <a:ext cx="552450" cy="190500"/>
          </a:xfrm>
          <a:prstGeom prst="roundRect">
            <a:avLst>
              <a:gd name="adj" fmla="val 13333"/>
            </a:avLst>
          </a:prstGeom>
          <a:solidFill>
            <a:srgbClr val="252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527300"/>
            <a:ext cx="5524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TODAY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2882900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What’s slowing teams down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17600" y="3556000"/>
            <a:ext cx="63500" cy="63500"/>
          </a:xfrm>
          <a:prstGeom prst="ellipse">
            <a:avLst/>
          </a:prstGeom>
          <a:solidFill>
            <a:srgbClr val="6C6D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46200" y="3492500"/>
            <a:ext cx="431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A pain point your audience will recognise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17600" y="3962400"/>
            <a:ext cx="63500" cy="63500"/>
          </a:xfrm>
          <a:prstGeom prst="ellipse">
            <a:avLst/>
          </a:prstGeom>
          <a:solidFill>
            <a:srgbClr val="6C6D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46200" y="3898900"/>
            <a:ext cx="431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A second problem, stated plainly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17600" y="4368800"/>
            <a:ext cx="63500" cy="63500"/>
          </a:xfrm>
          <a:prstGeom prst="ellipse">
            <a:avLst/>
          </a:prstGeom>
          <a:solidFill>
            <a:srgbClr val="6C6D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46200" y="4305300"/>
            <a:ext cx="431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A third problem, with its cost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3000" y="2222500"/>
            <a:ext cx="5207000" cy="2921000"/>
          </a:xfrm>
          <a:prstGeom prst="roundRect">
            <a:avLst>
              <a:gd name="adj" fmla="val 1739"/>
            </a:avLst>
          </a:prstGeom>
          <a:solidFill>
            <a:srgbClr val="F5F8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7800" y="2527300"/>
            <a:ext cx="1035050" cy="190500"/>
          </a:xfrm>
          <a:prstGeom prst="roundRect">
            <a:avLst>
              <a:gd name="adj" fmla="val 13333"/>
            </a:avLst>
          </a:prstGeom>
          <a:solidFill>
            <a:srgbClr val="0D4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27800" y="2527300"/>
            <a:ext cx="10350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WITH CREATOR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527800" y="2882900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What Creator changes</a:t>
            </a:r>
            <a:endParaRPr lang="en-US" sz="2000" dirty="0"/>
          </a:p>
        </p:txBody>
      </p:sp>
      <p:pic>
        <p:nvPicPr>
          <p:cNvPr id="18" name="Image 0" descr="img/ic_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00" y="3492500"/>
            <a:ext cx="177800" cy="1778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807200" y="3492500"/>
            <a:ext cx="431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The fix for the first problem</a:t>
            </a:r>
            <a:endParaRPr lang="en-US" sz="1200" dirty="0"/>
          </a:p>
        </p:txBody>
      </p:sp>
      <p:pic>
        <p:nvPicPr>
          <p:cNvPr id="20" name="Image 1" descr="img/ic_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0" y="3898900"/>
            <a:ext cx="177800" cy="1778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07200" y="3898900"/>
            <a:ext cx="431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The fix for the second problem</a:t>
            </a:r>
            <a:endParaRPr lang="en-US" sz="1200" dirty="0"/>
          </a:p>
        </p:txBody>
      </p:sp>
      <p:pic>
        <p:nvPicPr>
          <p:cNvPr id="22" name="Image 2" descr="img/ic_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0" y="4305300"/>
            <a:ext cx="177800" cy="1778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807200" y="4305300"/>
            <a:ext cx="431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The result, with a number if you can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Everything you need to build and run apps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349500"/>
            <a:ext cx="3384550" cy="1587500"/>
          </a:xfrm>
          <a:prstGeom prst="roundRect">
            <a:avLst>
              <a:gd name="adj" fmla="val 3200"/>
            </a:avLst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26035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7EDFE"/>
          </a:solidFill>
          <a:ln/>
        </p:spPr>
      </p:sp>
      <p:pic>
        <p:nvPicPr>
          <p:cNvPr id="6" name="Image 0" descr="img/ic_Curso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20" y="2674620"/>
            <a:ext cx="213360" cy="21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16000" y="31115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Capability name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16000" y="3390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that explains what this capability does.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0550" y="2349500"/>
            <a:ext cx="3384550" cy="1587500"/>
          </a:xfrm>
          <a:prstGeom prst="roundRect">
            <a:avLst>
              <a:gd name="adj" fmla="val 3200"/>
            </a:avLst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550" y="26035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7EDFE"/>
          </a:solidFill>
          <a:ln/>
        </p:spPr>
      </p:sp>
      <p:pic>
        <p:nvPicPr>
          <p:cNvPr id="11" name="Image 1" descr="img/ic_Fl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70" y="2674620"/>
            <a:ext cx="213360" cy="2133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550" y="31115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Capability name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54550" y="3390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that explains what this capability does.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39100" y="2349500"/>
            <a:ext cx="3384550" cy="1587500"/>
          </a:xfrm>
          <a:prstGeom prst="roundRect">
            <a:avLst>
              <a:gd name="adj" fmla="val 3200"/>
            </a:avLst>
          </a:prstGeom>
          <a:solidFill>
            <a:srgbClr val="FAFA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93100" y="26035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7EDFE"/>
          </a:solidFill>
          <a:ln/>
        </p:spPr>
      </p:sp>
      <p:pic>
        <p:nvPicPr>
          <p:cNvPr id="16" name="Image 2" descr="img/ic_Plug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20" y="2674620"/>
            <a:ext cx="213360" cy="2133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93100" y="31115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Capability name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93100" y="3390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that explains what this capability does.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62000" y="4191000"/>
            <a:ext cx="3384550" cy="1587500"/>
          </a:xfrm>
          <a:prstGeom prst="roundRect">
            <a:avLst>
              <a:gd name="adj" fmla="val 3200"/>
            </a:avLst>
          </a:prstGeom>
          <a:solidFill>
            <a:srgbClr val="FAFAF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6000" y="44450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7EDFE"/>
          </a:solidFill>
          <a:ln/>
        </p:spPr>
      </p:sp>
      <p:pic>
        <p:nvPicPr>
          <p:cNvPr id="21" name="Image 3" descr="img/ic_Phon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" y="4516120"/>
            <a:ext cx="213360" cy="2133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16000" y="49530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Capability name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16000" y="52324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that explains what this capability does.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0550" y="4191000"/>
            <a:ext cx="3384550" cy="1587500"/>
          </a:xfrm>
          <a:prstGeom prst="roundRect">
            <a:avLst>
              <a:gd name="adj" fmla="val 3200"/>
            </a:avLst>
          </a:prstGeom>
          <a:solidFill>
            <a:srgbClr val="FAFA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654550" y="44450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7EDFE"/>
          </a:solidFill>
          <a:ln/>
        </p:spPr>
      </p:sp>
      <p:pic>
        <p:nvPicPr>
          <p:cNvPr id="26" name="Image 4" descr="img/ic_Shiel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70" y="4516120"/>
            <a:ext cx="213360" cy="2133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4550" y="49530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Capability name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54550" y="52324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that explains what this capability does.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39100" y="4191000"/>
            <a:ext cx="3384550" cy="1587500"/>
          </a:xfrm>
          <a:prstGeom prst="roundRect">
            <a:avLst>
              <a:gd name="adj" fmla="val 3200"/>
            </a:avLst>
          </a:prstGeom>
          <a:solidFill>
            <a:srgbClr val="FAFA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293100" y="44450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7EDFE"/>
          </a:solidFill>
          <a:ln/>
        </p:spPr>
      </p:sp>
      <p:pic>
        <p:nvPicPr>
          <p:cNvPr id="31" name="Image 5" descr="img/ic_Robo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4220" y="4516120"/>
            <a:ext cx="213360" cy="2133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93100" y="49530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Capability name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93100" y="52324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that explains what this capability does.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3" name="Footer logo" descr="img/logo_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4" name="Footer URL"/>
          <p:cNvSpPr txBox="1"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5" name="Title"/>
          <p:cNvSpPr txBox="1"/>
          <p:nvPr/>
        </p:nvSpPr>
        <p:spPr>
          <a:xfrm>
            <a:off x="762000" y="825500"/>
            <a:ext cx="889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72C"/>
                </a:solidFill>
              </a:rPr>
              <a:t>Three ways to start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62000" y="1841500"/>
            <a:ext cx="3384550" cy="2413000"/>
          </a:xfrm>
          <a:prstGeom prst="roundRect">
            <a:avLst>
              <a:gd name="adj" fmla="val 2105"/>
            </a:avLst>
          </a:prstGeom>
          <a:solidFill>
            <a:srgbClr val="E7EDFE"/>
          </a:solidFill>
          <a:ln/>
        </p:spPr>
      </p:sp>
      <p:sp>
        <p:nvSpPr>
          <p:cNvPr id="7" name="Screenshot (sample UI, replace)"/>
          <p:cNvSpPr/>
          <p:nvPr/>
        </p:nvSpPr>
        <p:spPr>
          <a:xfrm>
            <a:off x="1016000" y="2222500"/>
            <a:ext cx="28765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16000" y="2222500"/>
            <a:ext cx="2876550" cy="254000"/>
          </a:xfrm>
          <a:prstGeom prst="roundRect">
            <a:avLst>
              <a:gd name="adj" fmla="val 30000"/>
            </a:avLst>
          </a:prstGeom>
          <a:solidFill>
            <a:srgbClr val="FAFAFA"/>
          </a:solidFill>
          <a:ln/>
        </p:spPr>
      </p:sp>
      <p:sp>
        <p:nvSpPr>
          <p:cNvPr id="9" name="Shape 6"/>
          <p:cNvSpPr/>
          <p:nvPr/>
        </p:nvSpPr>
        <p:spPr>
          <a:xfrm>
            <a:off x="1016000" y="2349500"/>
            <a:ext cx="2876550" cy="127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1117600" y="2317750"/>
            <a:ext cx="63500" cy="63500"/>
          </a:xfrm>
          <a:prstGeom prst="ellipse">
            <a:avLst/>
          </a:prstGeom>
          <a:solidFill>
            <a:srgbClr val="CC1914"/>
          </a:solidFill>
          <a:ln/>
        </p:spPr>
      </p:sp>
      <p:sp>
        <p:nvSpPr>
          <p:cNvPr id="11" name="Shape 8"/>
          <p:cNvSpPr/>
          <p:nvPr/>
        </p:nvSpPr>
        <p:spPr>
          <a:xfrm>
            <a:off x="1231900" y="2317750"/>
            <a:ext cx="63500" cy="63500"/>
          </a:xfrm>
          <a:prstGeom prst="ellipse">
            <a:avLst/>
          </a:prstGeom>
          <a:solidFill>
            <a:srgbClr val="FED70B"/>
          </a:solidFill>
          <a:ln/>
        </p:spPr>
      </p:sp>
      <p:sp>
        <p:nvSpPr>
          <p:cNvPr id="12" name="Shape 9"/>
          <p:cNvSpPr/>
          <p:nvPr/>
        </p:nvSpPr>
        <p:spPr>
          <a:xfrm>
            <a:off x="1346200" y="2317750"/>
            <a:ext cx="63500" cy="63500"/>
          </a:xfrm>
          <a:prstGeom prst="ellipse">
            <a:avLst/>
          </a:prstGeom>
          <a:solidFill>
            <a:srgbClr val="07884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68400" y="2578100"/>
            <a:ext cx="25717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New vendor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68400" y="2882900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272C"/>
                </a:solidFill>
              </a:rPr>
              <a:t>Company name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168400" y="3035300"/>
            <a:ext cx="2571750" cy="228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7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68400" y="3352800"/>
            <a:ext cx="257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272C"/>
                </a:solidFill>
              </a:rPr>
              <a:t>Contact email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1168400" y="3505200"/>
            <a:ext cx="2571750" cy="228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0D4E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68400" y="3898900"/>
            <a:ext cx="762000" cy="228600"/>
          </a:xfrm>
          <a:prstGeom prst="roundRect">
            <a:avLst>
              <a:gd name="adj" fmla="val 11111"/>
            </a:avLst>
          </a:prstGeom>
          <a:solidFill>
            <a:srgbClr val="E81D1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68400" y="38989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Submit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762000" y="4508500"/>
            <a:ext cx="338455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4EF2"/>
                </a:solidFill>
              </a:rPr>
              <a:t>FIRST STEP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62000" y="4737100"/>
            <a:ext cx="3384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Add a short description of each step, with enough context to understand what’s involved.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00550" y="1841500"/>
            <a:ext cx="3384550" cy="2413000"/>
          </a:xfrm>
          <a:prstGeom prst="roundRect">
            <a:avLst>
              <a:gd name="adj" fmla="val 2105"/>
            </a:avLst>
          </a:prstGeom>
          <a:solidFill>
            <a:srgbClr val="FFF5C3"/>
          </a:solidFill>
          <a:ln/>
        </p:spPr>
      </p:sp>
      <p:sp>
        <p:nvSpPr>
          <p:cNvPr id="23" name="Screenshot (sample UI, replace)"/>
          <p:cNvSpPr/>
          <p:nvPr/>
        </p:nvSpPr>
        <p:spPr>
          <a:xfrm>
            <a:off x="4654550" y="2222500"/>
            <a:ext cx="28765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54550" y="2222500"/>
            <a:ext cx="2876550" cy="254000"/>
          </a:xfrm>
          <a:prstGeom prst="roundRect">
            <a:avLst>
              <a:gd name="adj" fmla="val 30000"/>
            </a:avLst>
          </a:prstGeom>
          <a:solidFill>
            <a:srgbClr val="FAFAFA"/>
          </a:solidFill>
          <a:ln/>
        </p:spPr>
      </p:sp>
      <p:sp>
        <p:nvSpPr>
          <p:cNvPr id="25" name="Shape 22"/>
          <p:cNvSpPr/>
          <p:nvPr/>
        </p:nvSpPr>
        <p:spPr>
          <a:xfrm>
            <a:off x="4654550" y="2349500"/>
            <a:ext cx="2876550" cy="127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3"/>
          <p:cNvSpPr/>
          <p:nvPr/>
        </p:nvSpPr>
        <p:spPr>
          <a:xfrm>
            <a:off x="4756150" y="2317750"/>
            <a:ext cx="63500" cy="63500"/>
          </a:xfrm>
          <a:prstGeom prst="ellipse">
            <a:avLst/>
          </a:prstGeom>
          <a:solidFill>
            <a:srgbClr val="CC1914"/>
          </a:solidFill>
          <a:ln/>
        </p:spPr>
      </p:sp>
      <p:sp>
        <p:nvSpPr>
          <p:cNvPr id="27" name="Shape 24"/>
          <p:cNvSpPr/>
          <p:nvPr/>
        </p:nvSpPr>
        <p:spPr>
          <a:xfrm>
            <a:off x="4870450" y="2317750"/>
            <a:ext cx="63500" cy="63500"/>
          </a:xfrm>
          <a:prstGeom prst="ellipse">
            <a:avLst/>
          </a:prstGeom>
          <a:solidFill>
            <a:srgbClr val="FED70B"/>
          </a:solidFill>
          <a:ln/>
        </p:spPr>
      </p:sp>
      <p:sp>
        <p:nvSpPr>
          <p:cNvPr id="28" name="Shape 25"/>
          <p:cNvSpPr/>
          <p:nvPr/>
        </p:nvSpPr>
        <p:spPr>
          <a:xfrm>
            <a:off x="4984750" y="2317750"/>
            <a:ext cx="63500" cy="63500"/>
          </a:xfrm>
          <a:prstGeom prst="ellipse">
            <a:avLst/>
          </a:prstGeom>
          <a:solidFill>
            <a:srgbClr val="07884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06950" y="2578100"/>
            <a:ext cx="25717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Sales overview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6950" y="2857500"/>
            <a:ext cx="1235075" cy="457200"/>
          </a:xfrm>
          <a:prstGeom prst="roundRect">
            <a:avLst>
              <a:gd name="adj" fmla="val 11111"/>
            </a:avLst>
          </a:prstGeom>
          <a:solidFill>
            <a:srgbClr val="F5F8F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895850" y="2908300"/>
            <a:ext cx="1057275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4EF2"/>
                </a:solidFill>
              </a:rPr>
              <a:t>1,284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895850" y="3149600"/>
            <a:ext cx="1057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5C60"/>
                </a:solidFill>
              </a:rPr>
              <a:t>orders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6143625" y="2857500"/>
            <a:ext cx="1235075" cy="457200"/>
          </a:xfrm>
          <a:prstGeom prst="roundRect">
            <a:avLst>
              <a:gd name="adj" fmla="val 11111"/>
            </a:avLst>
          </a:prstGeom>
          <a:solidFill>
            <a:srgbClr val="F6FEF9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232525" y="2908300"/>
            <a:ext cx="1057275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8841"/>
                </a:solidFill>
              </a:rPr>
              <a:t>94%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32525" y="3149600"/>
            <a:ext cx="1057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5C60"/>
                </a:solidFill>
              </a:rPr>
              <a:t>on time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4892675" y="3848100"/>
            <a:ext cx="257175" cy="254000"/>
          </a:xfrm>
          <a:prstGeom prst="roundRect">
            <a:avLst>
              <a:gd name="adj" fmla="val 7500"/>
            </a:avLst>
          </a:prstGeom>
          <a:solidFill>
            <a:srgbClr val="C0D1FC"/>
          </a:solidFill>
          <a:ln/>
        </p:spPr>
      </p:sp>
      <p:sp>
        <p:nvSpPr>
          <p:cNvPr id="37" name="Shape 34"/>
          <p:cNvSpPr/>
          <p:nvPr/>
        </p:nvSpPr>
        <p:spPr>
          <a:xfrm>
            <a:off x="5321300" y="3733800"/>
            <a:ext cx="257175" cy="368300"/>
          </a:xfrm>
          <a:prstGeom prst="roundRect">
            <a:avLst>
              <a:gd name="adj" fmla="val 7407"/>
            </a:avLst>
          </a:prstGeom>
          <a:solidFill>
            <a:srgbClr val="C0D1FC"/>
          </a:solidFill>
          <a:ln/>
        </p:spPr>
      </p:sp>
      <p:sp>
        <p:nvSpPr>
          <p:cNvPr id="38" name="Shape 35"/>
          <p:cNvSpPr/>
          <p:nvPr/>
        </p:nvSpPr>
        <p:spPr>
          <a:xfrm>
            <a:off x="5749925" y="3784600"/>
            <a:ext cx="257175" cy="317500"/>
          </a:xfrm>
          <a:prstGeom prst="roundRect">
            <a:avLst>
              <a:gd name="adj" fmla="val 7407"/>
            </a:avLst>
          </a:prstGeom>
          <a:solidFill>
            <a:srgbClr val="C0D1FC"/>
          </a:solidFill>
          <a:ln/>
        </p:spPr>
      </p:sp>
      <p:sp>
        <p:nvSpPr>
          <p:cNvPr id="39" name="Shape 36"/>
          <p:cNvSpPr/>
          <p:nvPr/>
        </p:nvSpPr>
        <p:spPr>
          <a:xfrm>
            <a:off x="6178550" y="3644900"/>
            <a:ext cx="257175" cy="457200"/>
          </a:xfrm>
          <a:prstGeom prst="roundRect">
            <a:avLst>
              <a:gd name="adj" fmla="val 7407"/>
            </a:avLst>
          </a:prstGeom>
          <a:solidFill>
            <a:srgbClr val="C0D1FC"/>
          </a:solidFill>
          <a:ln/>
        </p:spPr>
      </p:sp>
      <p:sp>
        <p:nvSpPr>
          <p:cNvPr id="40" name="Shape 37"/>
          <p:cNvSpPr/>
          <p:nvPr/>
        </p:nvSpPr>
        <p:spPr>
          <a:xfrm>
            <a:off x="6607175" y="3683000"/>
            <a:ext cx="257175" cy="419100"/>
          </a:xfrm>
          <a:prstGeom prst="roundRect">
            <a:avLst>
              <a:gd name="adj" fmla="val 7407"/>
            </a:avLst>
          </a:prstGeom>
          <a:solidFill>
            <a:srgbClr val="C0D1FC"/>
          </a:solidFill>
          <a:ln/>
        </p:spPr>
      </p:sp>
      <p:sp>
        <p:nvSpPr>
          <p:cNvPr id="41" name="Shape 38"/>
          <p:cNvSpPr/>
          <p:nvPr/>
        </p:nvSpPr>
        <p:spPr>
          <a:xfrm>
            <a:off x="7035800" y="3568700"/>
            <a:ext cx="257175" cy="533400"/>
          </a:xfrm>
          <a:prstGeom prst="roundRect">
            <a:avLst>
              <a:gd name="adj" fmla="val 7407"/>
            </a:avLst>
          </a:prstGeom>
          <a:solidFill>
            <a:srgbClr val="0D4EF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400550" y="4508500"/>
            <a:ext cx="338455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F5D00"/>
                </a:solidFill>
              </a:rPr>
              <a:t>SECOND STEP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4400550" y="4737100"/>
            <a:ext cx="3384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Add a short description of each step, with enough context to understand what’s involved.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039100" y="1841500"/>
            <a:ext cx="3384550" cy="2413000"/>
          </a:xfrm>
          <a:prstGeom prst="roundRect">
            <a:avLst>
              <a:gd name="adj" fmla="val 2105"/>
            </a:avLst>
          </a:prstGeom>
          <a:solidFill>
            <a:srgbClr val="E3FCEE"/>
          </a:solidFill>
          <a:ln/>
        </p:spPr>
      </p:sp>
      <p:sp>
        <p:nvSpPr>
          <p:cNvPr id="45" name="Screenshot (sample UI, replace)"/>
          <p:cNvSpPr/>
          <p:nvPr/>
        </p:nvSpPr>
        <p:spPr>
          <a:xfrm>
            <a:off x="8293100" y="2222500"/>
            <a:ext cx="28765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93100" y="2222500"/>
            <a:ext cx="2876550" cy="254000"/>
          </a:xfrm>
          <a:prstGeom prst="roundRect">
            <a:avLst>
              <a:gd name="adj" fmla="val 30000"/>
            </a:avLst>
          </a:prstGeom>
          <a:solidFill>
            <a:srgbClr val="FAFAFA"/>
          </a:solidFill>
          <a:ln/>
        </p:spPr>
      </p:sp>
      <p:sp>
        <p:nvSpPr>
          <p:cNvPr id="47" name="Shape 44"/>
          <p:cNvSpPr/>
          <p:nvPr/>
        </p:nvSpPr>
        <p:spPr>
          <a:xfrm>
            <a:off x="8293100" y="2349500"/>
            <a:ext cx="2876550" cy="127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Shape 45"/>
          <p:cNvSpPr/>
          <p:nvPr/>
        </p:nvSpPr>
        <p:spPr>
          <a:xfrm>
            <a:off x="8394700" y="2317750"/>
            <a:ext cx="63500" cy="63500"/>
          </a:xfrm>
          <a:prstGeom prst="ellipse">
            <a:avLst/>
          </a:prstGeom>
          <a:solidFill>
            <a:srgbClr val="CC1914"/>
          </a:solidFill>
          <a:ln/>
        </p:spPr>
      </p:sp>
      <p:sp>
        <p:nvSpPr>
          <p:cNvPr id="49" name="Shape 46"/>
          <p:cNvSpPr/>
          <p:nvPr/>
        </p:nvSpPr>
        <p:spPr>
          <a:xfrm>
            <a:off x="8509000" y="2317750"/>
            <a:ext cx="63500" cy="63500"/>
          </a:xfrm>
          <a:prstGeom prst="ellipse">
            <a:avLst/>
          </a:prstGeom>
          <a:solidFill>
            <a:srgbClr val="FED70B"/>
          </a:solidFill>
          <a:ln/>
        </p:spPr>
      </p:sp>
      <p:sp>
        <p:nvSpPr>
          <p:cNvPr id="50" name="Shape 47"/>
          <p:cNvSpPr/>
          <p:nvPr/>
        </p:nvSpPr>
        <p:spPr>
          <a:xfrm>
            <a:off x="8623300" y="2317750"/>
            <a:ext cx="63500" cy="63500"/>
          </a:xfrm>
          <a:prstGeom prst="ellipse">
            <a:avLst/>
          </a:prstGeom>
          <a:solidFill>
            <a:srgbClr val="078841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445500" y="2578100"/>
            <a:ext cx="25717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My approvals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445500" y="3206750"/>
            <a:ext cx="257175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8445500" y="2971800"/>
            <a:ext cx="1270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PO-2381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10318750" y="2959100"/>
            <a:ext cx="622300" cy="177800"/>
          </a:xfrm>
          <a:prstGeom prst="roundRect">
            <a:avLst>
              <a:gd name="adj" fmla="val 14286"/>
            </a:avLst>
          </a:prstGeom>
          <a:solidFill>
            <a:srgbClr val="FFFADE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318750" y="2959100"/>
            <a:ext cx="6223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25272C"/>
                </a:solidFill>
              </a:rPr>
              <a:t>PENDING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8445500" y="3536950"/>
            <a:ext cx="257175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445500" y="3302000"/>
            <a:ext cx="1270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PO-2380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10318750" y="328930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10318750" y="328930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8445500" y="3867150"/>
            <a:ext cx="257175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445500" y="3632200"/>
            <a:ext cx="1270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PO-2379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318750" y="3619500"/>
            <a:ext cx="736600" cy="177800"/>
          </a:xfrm>
          <a:prstGeom prst="roundRect">
            <a:avLst>
              <a:gd name="adj" fmla="val 14286"/>
            </a:avLst>
          </a:prstGeom>
          <a:solidFill>
            <a:srgbClr val="E7EDFE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318750" y="3619500"/>
            <a:ext cx="736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A3BB8"/>
                </a:solidFill>
              </a:rPr>
              <a:t>IN REVIEW</a:t>
            </a:r>
            <a:endParaRPr lang="en-US" sz="600" dirty="0"/>
          </a:p>
        </p:txBody>
      </p:sp>
      <p:sp>
        <p:nvSpPr>
          <p:cNvPr id="64" name="Shape 61"/>
          <p:cNvSpPr/>
          <p:nvPr/>
        </p:nvSpPr>
        <p:spPr>
          <a:xfrm>
            <a:off x="8445500" y="4197350"/>
            <a:ext cx="257175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8445500" y="3962400"/>
            <a:ext cx="1270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PO-2378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10318750" y="394970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10318750" y="394970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68" name="Text 65"/>
          <p:cNvSpPr txBox="1"/>
          <p:nvPr/>
        </p:nvSpPr>
        <p:spPr>
          <a:xfrm>
            <a:off x="8039100" y="4508500"/>
            <a:ext cx="338455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8841"/>
                </a:solidFill>
              </a:rPr>
              <a:t>THIRD STEP</a:t>
            </a:r>
            <a:endParaRPr lang="en-US" sz="800" dirty="0"/>
          </a:p>
        </p:txBody>
      </p:sp>
      <p:sp>
        <p:nvSpPr>
          <p:cNvPr id="69" name="Text 66"/>
          <p:cNvSpPr txBox="1"/>
          <p:nvPr/>
        </p:nvSpPr>
        <p:spPr>
          <a:xfrm>
            <a:off x="8039100" y="4737100"/>
            <a:ext cx="3384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Add a short description of each step, with enough context to understand what’s involved.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19050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SECTION LABEL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62000" y="2159000"/>
            <a:ext cx="4699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5272C"/>
                </a:solidFill>
              </a:rPr>
              <a:t>A compelling headline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3556000"/>
            <a:ext cx="4445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paragraph that supports the headline. Two or three lines are enough; let the photo do the rest.</a:t>
            </a:r>
            <a:endParaRPr lang="en-US" sz="1200" dirty="0"/>
          </a:p>
        </p:txBody>
      </p:sp>
      <p:pic>
        <p:nvPicPr>
          <p:cNvPr id="5" name="Photo (replace)" descr="img/photo_office_t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OUR PROCESS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How we deliver,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97000" y="3359150"/>
            <a:ext cx="9398000" cy="12700"/>
          </a:xfrm>
          <a:prstGeom prst="rect">
            <a:avLst/>
          </a:prstGeom>
          <a:solidFill>
            <a:srgbClr val="C0D1FC"/>
          </a:solidFill>
          <a:ln/>
        </p:spPr>
      </p:sp>
      <p:sp>
        <p:nvSpPr>
          <p:cNvPr id="5" name="Shape 3"/>
          <p:cNvSpPr/>
          <p:nvPr/>
        </p:nvSpPr>
        <p:spPr>
          <a:xfrm>
            <a:off x="1193800" y="3162300"/>
            <a:ext cx="406400" cy="406400"/>
          </a:xfrm>
          <a:prstGeom prst="ellipse">
            <a:avLst/>
          </a:prstGeom>
          <a:solidFill>
            <a:srgbClr val="0D4EF2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93800" y="31623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4500" y="37465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4500" y="4025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One line on what happens in this step.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43300" y="3162300"/>
            <a:ext cx="406400" cy="406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3300" y="31623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EF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94000" y="37465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Strategy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94000" y="4025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One line on what happens in this step.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92800" y="3162300"/>
            <a:ext cx="406400" cy="406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2800" y="31623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EF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43500" y="37465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Design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43500" y="4025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One line on what happens in this step.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42300" y="3162300"/>
            <a:ext cx="406400" cy="406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42300" y="31623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EF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3000" y="37465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Build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3000" y="4025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One line on what happens in this step.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91800" y="3162300"/>
            <a:ext cx="406400" cy="406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91800" y="31623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EF2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42500" y="37465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Launch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42500" y="4025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One line on what happens in this step.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What’s coming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2540000" cy="254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3495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4EF2"/>
                </a:solidFill>
              </a:rPr>
              <a:t>Q1 2027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2730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5F8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882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24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62000" y="3619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5F8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71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13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2000" y="4508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5F8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660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902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1545" y="2222500"/>
            <a:ext cx="2540000" cy="25400"/>
          </a:xfrm>
          <a:prstGeom prst="rect">
            <a:avLst/>
          </a:prstGeom>
          <a:solidFill>
            <a:srgbClr val="D6D7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1545" y="23495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72C"/>
                </a:solidFill>
              </a:rPr>
              <a:t>Q2 2027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1545" y="2730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23945" y="2882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23945" y="3124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1545" y="3619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23945" y="3771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23945" y="4013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81090" y="2222500"/>
            <a:ext cx="2540000" cy="25400"/>
          </a:xfrm>
          <a:prstGeom prst="rect">
            <a:avLst/>
          </a:prstGeom>
          <a:solidFill>
            <a:srgbClr val="D6D7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81090" y="23495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72C"/>
                </a:solidFill>
              </a:rPr>
              <a:t>Q3 2027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81090" y="2730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33490" y="2882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33490" y="3124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81090" y="3619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33490" y="3771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33490" y="4013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81090" y="4508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33490" y="4660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33490" y="4902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890635" y="2222500"/>
            <a:ext cx="2540000" cy="25400"/>
          </a:xfrm>
          <a:prstGeom prst="rect">
            <a:avLst/>
          </a:prstGeom>
          <a:solidFill>
            <a:srgbClr val="D6D7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90635" y="23495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72C"/>
                </a:solidFill>
              </a:rPr>
              <a:t>Q4 2027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90635" y="2730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043035" y="2882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043035" y="3124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890635" y="3619500"/>
            <a:ext cx="2540000" cy="7620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043035" y="3771900"/>
            <a:ext cx="223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Feature or milestone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043035" y="4013200"/>
            <a:ext cx="223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description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62000" y="1079500"/>
            <a:ext cx="406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Build it once, run it everywhere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2349500"/>
            <a:ext cx="3937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one or two line description of the product surface shown here and why it matters.</a:t>
            </a:r>
            <a:endParaRPr lang="en-US" sz="1200" dirty="0"/>
          </a:p>
        </p:txBody>
      </p:sp>
      <p:pic>
        <p:nvPicPr>
          <p:cNvPr id="5" name="Image 0" descr="img/ic_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0005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2200" y="40259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First key capability or benefit</a:t>
            </a:r>
            <a:endParaRPr lang="en-US" sz="1000" dirty="0"/>
          </a:p>
        </p:txBody>
      </p:sp>
      <p:pic>
        <p:nvPicPr>
          <p:cNvPr id="7" name="Image 1" descr="img/ic_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593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2200" y="45847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Second key capability or benefit</a:t>
            </a:r>
            <a:endParaRPr lang="en-US" sz="1000" dirty="0"/>
          </a:p>
        </p:txBody>
      </p:sp>
      <p:pic>
        <p:nvPicPr>
          <p:cNvPr id="9" name="Image 2" descr="img/ic_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1810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2200" y="51435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Third key capability or benefit</a:t>
            </a:r>
            <a:endParaRPr lang="en-US" sz="1000" dirty="0"/>
          </a:p>
        </p:txBody>
      </p:sp>
      <p:sp>
        <p:nvSpPr>
          <p:cNvPr id="11" name="Product screenshot (replace)"/>
          <p:cNvSpPr/>
          <p:nvPr/>
        </p:nvSpPr>
        <p:spPr>
          <a:xfrm>
            <a:off x="5334000" y="609600"/>
            <a:ext cx="6096000" cy="56388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334000" y="609600"/>
            <a:ext cx="60960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5334000" y="736600"/>
            <a:ext cx="6096000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5461000" y="698500"/>
            <a:ext cx="76200" cy="76200"/>
          </a:xfrm>
          <a:prstGeom prst="ellipse">
            <a:avLst/>
          </a:prstGeom>
          <a:solidFill>
            <a:srgbClr val="CC1914"/>
          </a:solidFill>
          <a:ln/>
        </p:spPr>
      </p:sp>
      <p:sp>
        <p:nvSpPr>
          <p:cNvPr id="15" name="Shape 10"/>
          <p:cNvSpPr/>
          <p:nvPr/>
        </p:nvSpPr>
        <p:spPr>
          <a:xfrm>
            <a:off x="5588000" y="698500"/>
            <a:ext cx="76200" cy="76200"/>
          </a:xfrm>
          <a:prstGeom prst="ellipse">
            <a:avLst/>
          </a:prstGeom>
          <a:solidFill>
            <a:srgbClr val="FED70B"/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0" y="698500"/>
            <a:ext cx="76200" cy="76200"/>
          </a:xfrm>
          <a:prstGeom prst="ellipse">
            <a:avLst/>
          </a:prstGeom>
          <a:solidFill>
            <a:srgbClr val="078841"/>
          </a:solidFill>
          <a:ln/>
        </p:spPr>
      </p:sp>
      <p:sp>
        <p:nvSpPr>
          <p:cNvPr id="17" name="Shape 12"/>
          <p:cNvSpPr/>
          <p:nvPr/>
        </p:nvSpPr>
        <p:spPr>
          <a:xfrm>
            <a:off x="5334000" y="863600"/>
            <a:ext cx="1397000" cy="53848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5537200" y="11557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Home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5537200" y="14605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Orders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410200" y="1701800"/>
            <a:ext cx="1244600" cy="25400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537200" y="17653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4EF2"/>
                </a:solidFill>
              </a:rPr>
              <a:t>Approvals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5537200" y="20701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Dashboards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5537200" y="23749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Customers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5537200" y="26797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Settings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985000" y="1092200"/>
            <a:ext cx="419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272C"/>
                </a:solidFill>
              </a:rPr>
              <a:t>Approvals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985000" y="1435100"/>
            <a:ext cx="419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12 requests waiting for you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985000" y="1752600"/>
            <a:ext cx="1329267" cy="660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112000" y="1854200"/>
            <a:ext cx="107526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Pending</a:t>
            </a:r>
            <a:endParaRPr lang="en-US" sz="700" dirty="0"/>
          </a:p>
        </p:txBody>
      </p:sp>
      <p:sp>
        <p:nvSpPr>
          <p:cNvPr id="29" name="Text 24"/>
          <p:cNvSpPr txBox="1"/>
          <p:nvPr/>
        </p:nvSpPr>
        <p:spPr>
          <a:xfrm>
            <a:off x="7112000" y="2032000"/>
            <a:ext cx="10752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EF2"/>
                </a:solidFill>
              </a:rPr>
              <a:t>12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8415867" y="1752600"/>
            <a:ext cx="1329267" cy="660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542867" y="1854200"/>
            <a:ext cx="107526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Approved</a:t>
            </a:r>
            <a:endParaRPr lang="en-US" sz="700" dirty="0"/>
          </a:p>
        </p:txBody>
      </p:sp>
      <p:sp>
        <p:nvSpPr>
          <p:cNvPr id="32" name="Text 27"/>
          <p:cNvSpPr txBox="1"/>
          <p:nvPr/>
        </p:nvSpPr>
        <p:spPr>
          <a:xfrm>
            <a:off x="8542867" y="2032000"/>
            <a:ext cx="10752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8841"/>
                </a:solidFill>
              </a:rPr>
              <a:t>48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9846733" y="1752600"/>
            <a:ext cx="1329267" cy="660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973733" y="1854200"/>
            <a:ext cx="107526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Avg. time</a:t>
            </a:r>
            <a:endParaRPr lang="en-US" sz="700" dirty="0"/>
          </a:p>
        </p:txBody>
      </p:sp>
      <p:sp>
        <p:nvSpPr>
          <p:cNvPr id="35" name="Text 30"/>
          <p:cNvSpPr txBox="1"/>
          <p:nvPr/>
        </p:nvSpPr>
        <p:spPr>
          <a:xfrm>
            <a:off x="9973733" y="2032000"/>
            <a:ext cx="10752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1644"/>
                </a:solidFill>
              </a:rPr>
              <a:t>1.4 d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6985000" y="2565400"/>
            <a:ext cx="4191000" cy="3479800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985000" y="2565400"/>
            <a:ext cx="4191000" cy="254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110730" y="26289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Request</a:t>
            </a:r>
            <a:endParaRPr lang="en-US" sz="700" dirty="0"/>
          </a:p>
        </p:txBody>
      </p:sp>
      <p:sp>
        <p:nvSpPr>
          <p:cNvPr id="39" name="Text 34"/>
          <p:cNvSpPr txBox="1"/>
          <p:nvPr/>
        </p:nvSpPr>
        <p:spPr>
          <a:xfrm>
            <a:off x="8870950" y="26289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Requester</a:t>
            </a:r>
            <a:endParaRPr lang="en-US" sz="700" dirty="0"/>
          </a:p>
        </p:txBody>
      </p:sp>
      <p:sp>
        <p:nvSpPr>
          <p:cNvPr id="40" name="Text 35"/>
          <p:cNvSpPr txBox="1"/>
          <p:nvPr/>
        </p:nvSpPr>
        <p:spPr>
          <a:xfrm>
            <a:off x="9751060" y="26289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Amount</a:t>
            </a:r>
            <a:endParaRPr lang="en-US" sz="700" dirty="0"/>
          </a:p>
        </p:txBody>
      </p:sp>
      <p:sp>
        <p:nvSpPr>
          <p:cNvPr id="41" name="Text 36"/>
          <p:cNvSpPr txBox="1"/>
          <p:nvPr/>
        </p:nvSpPr>
        <p:spPr>
          <a:xfrm>
            <a:off x="10421620" y="26289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Status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6985000" y="3194050"/>
            <a:ext cx="4191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7110730" y="29527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Laptops for new hires</a:t>
            </a:r>
            <a:endParaRPr lang="en-US" sz="750" dirty="0"/>
          </a:p>
        </p:txBody>
      </p:sp>
      <p:sp>
        <p:nvSpPr>
          <p:cNvPr id="44" name="Text 39"/>
          <p:cNvSpPr txBox="1"/>
          <p:nvPr/>
        </p:nvSpPr>
        <p:spPr>
          <a:xfrm>
            <a:off x="8870950" y="29527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Priya S.</a:t>
            </a:r>
            <a:endParaRPr lang="en-US" sz="750" dirty="0"/>
          </a:p>
        </p:txBody>
      </p:sp>
      <p:sp>
        <p:nvSpPr>
          <p:cNvPr id="45" name="Text 40"/>
          <p:cNvSpPr txBox="1"/>
          <p:nvPr/>
        </p:nvSpPr>
        <p:spPr>
          <a:xfrm>
            <a:off x="9751060" y="29527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4,20,000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10421620" y="2940050"/>
            <a:ext cx="622300" cy="177800"/>
          </a:xfrm>
          <a:prstGeom prst="roundRect">
            <a:avLst>
              <a:gd name="adj" fmla="val 14286"/>
            </a:avLst>
          </a:prstGeom>
          <a:solidFill>
            <a:srgbClr val="FFFADE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10421620" y="2940050"/>
            <a:ext cx="6223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25272C"/>
                </a:solidFill>
              </a:rPr>
              <a:t>PENDING</a:t>
            </a:r>
            <a:endParaRPr lang="en-US" sz="600" dirty="0"/>
          </a:p>
        </p:txBody>
      </p:sp>
      <p:sp>
        <p:nvSpPr>
          <p:cNvPr id="48" name="Shape 43"/>
          <p:cNvSpPr/>
          <p:nvPr/>
        </p:nvSpPr>
        <p:spPr>
          <a:xfrm>
            <a:off x="6985000" y="3549650"/>
            <a:ext cx="4191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7110730" y="33083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Office chairs</a:t>
            </a:r>
            <a:endParaRPr lang="en-US" sz="750" dirty="0"/>
          </a:p>
        </p:txBody>
      </p:sp>
      <p:sp>
        <p:nvSpPr>
          <p:cNvPr id="50" name="Text 45"/>
          <p:cNvSpPr txBox="1"/>
          <p:nvPr/>
        </p:nvSpPr>
        <p:spPr>
          <a:xfrm>
            <a:off x="8870950" y="33083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Arun K.</a:t>
            </a:r>
            <a:endParaRPr lang="en-US" sz="750" dirty="0"/>
          </a:p>
        </p:txBody>
      </p:sp>
      <p:sp>
        <p:nvSpPr>
          <p:cNvPr id="51" name="Text 46"/>
          <p:cNvSpPr txBox="1"/>
          <p:nvPr/>
        </p:nvSpPr>
        <p:spPr>
          <a:xfrm>
            <a:off x="9751060" y="33083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96,000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10421620" y="329565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10421620" y="329565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54" name="Shape 49"/>
          <p:cNvSpPr/>
          <p:nvPr/>
        </p:nvSpPr>
        <p:spPr>
          <a:xfrm>
            <a:off x="6985000" y="3905250"/>
            <a:ext cx="4191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7110730" y="36639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Cloud credits</a:t>
            </a:r>
            <a:endParaRPr lang="en-US" sz="750" dirty="0"/>
          </a:p>
        </p:txBody>
      </p:sp>
      <p:sp>
        <p:nvSpPr>
          <p:cNvPr id="56" name="Text 51"/>
          <p:cNvSpPr txBox="1"/>
          <p:nvPr/>
        </p:nvSpPr>
        <p:spPr>
          <a:xfrm>
            <a:off x="8870950" y="36639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Meera R.</a:t>
            </a:r>
            <a:endParaRPr lang="en-US" sz="750" dirty="0"/>
          </a:p>
        </p:txBody>
      </p:sp>
      <p:sp>
        <p:nvSpPr>
          <p:cNvPr id="57" name="Text 52"/>
          <p:cNvSpPr txBox="1"/>
          <p:nvPr/>
        </p:nvSpPr>
        <p:spPr>
          <a:xfrm>
            <a:off x="9751060" y="36639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1,50,000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10421620" y="3651250"/>
            <a:ext cx="736600" cy="177800"/>
          </a:xfrm>
          <a:prstGeom prst="roundRect">
            <a:avLst>
              <a:gd name="adj" fmla="val 14286"/>
            </a:avLst>
          </a:prstGeom>
          <a:solidFill>
            <a:srgbClr val="E7EDFE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10421620" y="3651250"/>
            <a:ext cx="736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A3BB8"/>
                </a:solidFill>
              </a:rPr>
              <a:t>IN REVIEW</a:t>
            </a:r>
            <a:endParaRPr lang="en-US" sz="600" dirty="0"/>
          </a:p>
        </p:txBody>
      </p:sp>
      <p:sp>
        <p:nvSpPr>
          <p:cNvPr id="60" name="Shape 55"/>
          <p:cNvSpPr/>
          <p:nvPr/>
        </p:nvSpPr>
        <p:spPr>
          <a:xfrm>
            <a:off x="6985000" y="4260850"/>
            <a:ext cx="4191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7110730" y="40195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Event booth</a:t>
            </a:r>
            <a:endParaRPr lang="en-US" sz="750" dirty="0"/>
          </a:p>
        </p:txBody>
      </p:sp>
      <p:sp>
        <p:nvSpPr>
          <p:cNvPr id="62" name="Text 57"/>
          <p:cNvSpPr txBox="1"/>
          <p:nvPr/>
        </p:nvSpPr>
        <p:spPr>
          <a:xfrm>
            <a:off x="8870950" y="40195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Rahul D.</a:t>
            </a:r>
            <a:endParaRPr lang="en-US" sz="750" dirty="0"/>
          </a:p>
        </p:txBody>
      </p:sp>
      <p:sp>
        <p:nvSpPr>
          <p:cNvPr id="63" name="Text 58"/>
          <p:cNvSpPr txBox="1"/>
          <p:nvPr/>
        </p:nvSpPr>
        <p:spPr>
          <a:xfrm>
            <a:off x="9751060" y="40195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2,40,000</a:t>
            </a:r>
            <a:endParaRPr lang="en-US" sz="750" dirty="0"/>
          </a:p>
        </p:txBody>
      </p:sp>
      <p:sp>
        <p:nvSpPr>
          <p:cNvPr id="64" name="Shape 59"/>
          <p:cNvSpPr/>
          <p:nvPr/>
        </p:nvSpPr>
        <p:spPr>
          <a:xfrm>
            <a:off x="10421620" y="4006850"/>
            <a:ext cx="622300" cy="177800"/>
          </a:xfrm>
          <a:prstGeom prst="roundRect">
            <a:avLst>
              <a:gd name="adj" fmla="val 14286"/>
            </a:avLst>
          </a:prstGeom>
          <a:solidFill>
            <a:srgbClr val="FFFADE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10421620" y="4006850"/>
            <a:ext cx="6223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25272C"/>
                </a:solidFill>
              </a:rPr>
              <a:t>PENDING</a:t>
            </a:r>
            <a:endParaRPr lang="en-US" sz="600" dirty="0"/>
          </a:p>
        </p:txBody>
      </p:sp>
      <p:sp>
        <p:nvSpPr>
          <p:cNvPr id="66" name="Shape 61"/>
          <p:cNvSpPr/>
          <p:nvPr/>
        </p:nvSpPr>
        <p:spPr>
          <a:xfrm>
            <a:off x="6985000" y="4616450"/>
            <a:ext cx="4191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7110730" y="43751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Training licences</a:t>
            </a:r>
            <a:endParaRPr lang="en-US" sz="750" dirty="0"/>
          </a:p>
        </p:txBody>
      </p:sp>
      <p:sp>
        <p:nvSpPr>
          <p:cNvPr id="68" name="Text 63"/>
          <p:cNvSpPr txBox="1"/>
          <p:nvPr/>
        </p:nvSpPr>
        <p:spPr>
          <a:xfrm>
            <a:off x="8870950" y="43751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Anita P.</a:t>
            </a:r>
            <a:endParaRPr lang="en-US" sz="750" dirty="0"/>
          </a:p>
        </p:txBody>
      </p:sp>
      <p:sp>
        <p:nvSpPr>
          <p:cNvPr id="69" name="Text 64"/>
          <p:cNvSpPr txBox="1"/>
          <p:nvPr/>
        </p:nvSpPr>
        <p:spPr>
          <a:xfrm>
            <a:off x="9751060" y="4375150"/>
            <a:ext cx="167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60,000</a:t>
            </a:r>
            <a:endParaRPr lang="en-US" sz="750" dirty="0"/>
          </a:p>
        </p:txBody>
      </p:sp>
      <p:sp>
        <p:nvSpPr>
          <p:cNvPr id="70" name="Shape 65"/>
          <p:cNvSpPr/>
          <p:nvPr/>
        </p:nvSpPr>
        <p:spPr>
          <a:xfrm>
            <a:off x="10421620" y="436245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10421620" y="436245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WATCH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A short title for the video</a:t>
            </a:r>
            <a:endParaRPr lang="en-US" sz="3600" dirty="0"/>
          </a:p>
        </p:txBody>
      </p:sp>
      <p:sp>
        <p:nvSpPr>
          <p:cNvPr id="4" name="Video (replace)"/>
          <p:cNvSpPr/>
          <p:nvPr/>
        </p:nvSpPr>
        <p:spPr>
          <a:xfrm>
            <a:off x="762000" y="2095500"/>
            <a:ext cx="10668000" cy="3556000"/>
          </a:xfrm>
          <a:prstGeom prst="roundRect">
            <a:avLst>
              <a:gd name="adj" fmla="val 2857"/>
            </a:avLst>
          </a:prstGeom>
          <a:solidFill>
            <a:srgbClr val="13161B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0" y="3492500"/>
            <a:ext cx="762000" cy="7620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mg/ic_Pla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200" y="3695700"/>
            <a:ext cx="355600" cy="355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INSIDE THE PRODUCT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62000" y="1079500"/>
            <a:ext cx="406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A closer look at the interface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3111500"/>
            <a:ext cx="254000" cy="254000"/>
          </a:xfrm>
          <a:prstGeom prst="ellipse">
            <a:avLst/>
          </a:prstGeom>
          <a:solidFill>
            <a:srgbClr val="0D4E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31115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68400" y="31369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72C"/>
                </a:solidFill>
              </a:rPr>
              <a:t>First feature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68400" y="3390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line describing this part of the UI.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4000500"/>
            <a:ext cx="254000" cy="254000"/>
          </a:xfrm>
          <a:prstGeom prst="ellipse">
            <a:avLst/>
          </a:prstGeom>
          <a:solidFill>
            <a:srgbClr val="0D4E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2000" y="40005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68400" y="40259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72C"/>
                </a:solidFill>
              </a:rPr>
              <a:t>Second feature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8400" y="427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line describing this part of the UI.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2000" y="4889500"/>
            <a:ext cx="254000" cy="254000"/>
          </a:xfrm>
          <a:prstGeom prst="ellipse">
            <a:avLst/>
          </a:prstGeom>
          <a:solidFill>
            <a:srgbClr val="0D4E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2000" y="48895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68400" y="49149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72C"/>
                </a:solidFill>
              </a:rPr>
              <a:t>Third feature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68400" y="5168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 short line describing this part of the UI.</a:t>
            </a:r>
            <a:endParaRPr lang="en-US" sz="800" dirty="0"/>
          </a:p>
        </p:txBody>
      </p:sp>
      <p:sp>
        <p:nvSpPr>
          <p:cNvPr id="16" name="Product screenshot (replace)"/>
          <p:cNvSpPr/>
          <p:nvPr/>
        </p:nvSpPr>
        <p:spPr>
          <a:xfrm>
            <a:off x="5334000" y="609600"/>
            <a:ext cx="6096000" cy="56388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34000" y="609600"/>
            <a:ext cx="60960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0" y="736600"/>
            <a:ext cx="6096000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61000" y="698500"/>
            <a:ext cx="76200" cy="76200"/>
          </a:xfrm>
          <a:prstGeom prst="ellipse">
            <a:avLst/>
          </a:prstGeom>
          <a:solidFill>
            <a:srgbClr val="CC1914"/>
          </a:solidFill>
          <a:ln/>
        </p:spPr>
      </p:sp>
      <p:sp>
        <p:nvSpPr>
          <p:cNvPr id="20" name="Shape 18"/>
          <p:cNvSpPr/>
          <p:nvPr/>
        </p:nvSpPr>
        <p:spPr>
          <a:xfrm>
            <a:off x="5588000" y="698500"/>
            <a:ext cx="76200" cy="76200"/>
          </a:xfrm>
          <a:prstGeom prst="ellipse">
            <a:avLst/>
          </a:prstGeom>
          <a:solidFill>
            <a:srgbClr val="FED7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698500"/>
            <a:ext cx="76200" cy="76200"/>
          </a:xfrm>
          <a:prstGeom prst="ellipse">
            <a:avLst/>
          </a:prstGeom>
          <a:solidFill>
            <a:srgbClr val="078841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0" y="863600"/>
            <a:ext cx="1587500" cy="538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0" y="10160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FIELDS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6400" y="12192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88000" y="12890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Single line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0" y="15621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88000" y="16319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Email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0" y="19050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88000" y="19748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Number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0" y="22479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88000" y="23177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Date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0" y="25908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88000" y="26606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Dropdown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0" y="29337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88000" y="30035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Lookup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0" y="32766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88000" y="33464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File upload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0" y="361950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88000" y="368935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Signature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525000" y="863600"/>
            <a:ext cx="1905000" cy="538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77400" y="10160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PROPERTIES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9677400" y="12446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Field name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677400" y="139700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53600" y="145415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Quantity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9677400" y="17780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Type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677400" y="193040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53600" y="198755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Number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9677400" y="23114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Required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677400" y="246380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753600" y="252095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Yes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9677400" y="28448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Min value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677400" y="299720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753600" y="305435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175500" y="1066800"/>
            <a:ext cx="2095500" cy="49784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29500" y="1270000"/>
            <a:ext cx="15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Purchase request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429500" y="175260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Item name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429500" y="1943100"/>
            <a:ext cx="15875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7D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429500" y="236220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Quantity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29500" y="2552700"/>
            <a:ext cx="15875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29500" y="297180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Department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29500" y="3162300"/>
            <a:ext cx="15875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7D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29500" y="358140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Needed by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29500" y="3771900"/>
            <a:ext cx="15875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7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29500" y="5537200"/>
            <a:ext cx="1016000" cy="304800"/>
          </a:xfrm>
          <a:prstGeom prst="roundRect">
            <a:avLst>
              <a:gd name="adj" fmla="val 8333"/>
            </a:avLst>
          </a:prstGeom>
          <a:solidFill>
            <a:srgbClr val="E81D1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429500" y="55372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Submit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985000" y="1143000"/>
            <a:ext cx="279400" cy="279400"/>
          </a:xfrm>
          <a:prstGeom prst="ellipse">
            <a:avLst/>
          </a:prstGeom>
          <a:solidFill>
            <a:srgbClr val="0D4E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85000" y="1143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540750" y="2857500"/>
            <a:ext cx="279400" cy="279400"/>
          </a:xfrm>
          <a:prstGeom prst="ellipse">
            <a:avLst/>
          </a:prstGeom>
          <a:solidFill>
            <a:srgbClr val="0D4E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540750" y="2857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795000" y="1841500"/>
            <a:ext cx="279400" cy="279400"/>
          </a:xfrm>
          <a:prstGeom prst="ellipse">
            <a:avLst/>
          </a:prstGeom>
          <a:solidFill>
            <a:srgbClr val="0D4E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795000" y="1841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THE PLATFORM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62000" y="1079500"/>
            <a:ext cx="406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One platform, end to end</a:t>
            </a:r>
            <a:endParaRPr lang="en-US" sz="3600" dirty="0"/>
          </a:p>
        </p:txBody>
      </p:sp>
      <p:pic>
        <p:nvPicPr>
          <p:cNvPr id="4" name="Image 0" descr="img/ic_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40000"/>
            <a:ext cx="177800" cy="177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25400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Low-code application development</a:t>
            </a:r>
            <a:endParaRPr lang="en-US" sz="1000" dirty="0"/>
          </a:p>
        </p:txBody>
      </p:sp>
      <p:pic>
        <p:nvPicPr>
          <p:cNvPr id="6" name="Image 1" descr="img/ic_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95600"/>
            <a:ext cx="177800" cy="177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1400" y="28956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Secure, scalable and compliant</a:t>
            </a:r>
            <a:endParaRPr lang="en-US" sz="1000" dirty="0"/>
          </a:p>
        </p:txBody>
      </p:sp>
      <p:pic>
        <p:nvPicPr>
          <p:cNvPr id="8" name="Image 2" descr="img/ic_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51200"/>
            <a:ext cx="177800" cy="1778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41400" y="32512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Workflow and process automation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38227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BUILT ON</a:t>
            </a:r>
            <a:endParaRPr lang="en-US" sz="700" dirty="0"/>
          </a:p>
        </p:txBody>
      </p:sp>
      <p:sp>
        <p:nvSpPr>
          <p:cNvPr id="11" name="Shape 6"/>
          <p:cNvSpPr/>
          <p:nvPr/>
        </p:nvSpPr>
        <p:spPr>
          <a:xfrm>
            <a:off x="762000" y="4025900"/>
            <a:ext cx="1314450" cy="190500"/>
          </a:xfrm>
          <a:prstGeom prst="roundRect">
            <a:avLst>
              <a:gd name="adj" fmla="val 13333"/>
            </a:avLst>
          </a:prstGeom>
          <a:solidFill>
            <a:srgbClr val="E7EDFE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62000" y="4025900"/>
            <a:ext cx="13144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A3BB8"/>
                </a:solidFill>
              </a:rPr>
              <a:t>SECURE BY DESIGN</a:t>
            </a:r>
            <a:endParaRPr lang="en-US" sz="700" dirty="0"/>
          </a:p>
        </p:txBody>
      </p:sp>
      <p:sp>
        <p:nvSpPr>
          <p:cNvPr id="13" name="Shape 8"/>
          <p:cNvSpPr/>
          <p:nvPr/>
        </p:nvSpPr>
        <p:spPr>
          <a:xfrm>
            <a:off x="2152650" y="4025900"/>
            <a:ext cx="895350" cy="190500"/>
          </a:xfrm>
          <a:prstGeom prst="roundRect">
            <a:avLst>
              <a:gd name="adj" fmla="val 13333"/>
            </a:avLst>
          </a:prstGeom>
          <a:solidFill>
            <a:srgbClr val="E7EDFE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152650" y="4025900"/>
            <a:ext cx="8953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A3BB8"/>
                </a:solidFill>
              </a:rPr>
              <a:t>AI-POWERED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3124200" y="4025900"/>
            <a:ext cx="755650" cy="190500"/>
          </a:xfrm>
          <a:prstGeom prst="roundRect">
            <a:avLst>
              <a:gd name="adj" fmla="val 13333"/>
            </a:avLst>
          </a:prstGeom>
          <a:solidFill>
            <a:srgbClr val="E7EDFE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124200" y="4025900"/>
            <a:ext cx="7556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A3BB8"/>
                </a:solidFill>
              </a:rPr>
              <a:t>SCALABLE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762000" y="4330700"/>
            <a:ext cx="895350" cy="190500"/>
          </a:xfrm>
          <a:prstGeom prst="roundRect">
            <a:avLst>
              <a:gd name="adj" fmla="val 13333"/>
            </a:avLst>
          </a:prstGeom>
          <a:solidFill>
            <a:srgbClr val="E7EDFE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62000" y="4330700"/>
            <a:ext cx="8953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A3BB8"/>
                </a:solidFill>
              </a:rPr>
              <a:t>EXTENSIBLE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1733550" y="4330700"/>
            <a:ext cx="825500" cy="190500"/>
          </a:xfrm>
          <a:prstGeom prst="roundRect">
            <a:avLst>
              <a:gd name="adj" fmla="val 13333"/>
            </a:avLst>
          </a:prstGeom>
          <a:solidFill>
            <a:srgbClr val="E7EDFE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733550" y="4330700"/>
            <a:ext cx="825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A3BB8"/>
                </a:solidFill>
              </a:rPr>
              <a:t>CONNECTED</a:t>
            </a:r>
            <a:endParaRPr lang="en-US" sz="700" dirty="0"/>
          </a:p>
        </p:txBody>
      </p:sp>
      <p:pic>
        <p:nvPicPr>
          <p:cNvPr id="21" name="Image 3" descr="img/orbit_g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698500"/>
            <a:ext cx="5715000" cy="57150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88000" y="952500"/>
            <a:ext cx="5207000" cy="5207000"/>
          </a:xfrm>
          <a:prstGeom prst="ellipse">
            <a:avLst/>
          </a:prstGeom>
          <a:ln w="19050">
            <a:solidFill>
              <a:srgbClr val="D7C2FF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6477000" y="1841500"/>
            <a:ext cx="3429000" cy="3429000"/>
          </a:xfrm>
          <a:prstGeom prst="ellipse">
            <a:avLst/>
          </a:prstGeom>
          <a:ln w="19050">
            <a:solidFill>
              <a:srgbClr val="C0D1FC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7378700" y="2743200"/>
            <a:ext cx="1625600" cy="1625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pic>
        <p:nvPicPr>
          <p:cNvPr id="25" name="Image 4" descr="img/logo_colou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250" y="3366040"/>
            <a:ext cx="1206500" cy="379919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950200" y="1600200"/>
            <a:ext cx="482600" cy="482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</p:spPr>
      </p:sp>
      <p:pic>
        <p:nvPicPr>
          <p:cNvPr id="27" name="Image 5" descr="img/ic_Wallet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172720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83500" y="21209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Financial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management</a:t>
            </a:r>
            <a:endParaRPr lang="en-US" sz="650" dirty="0"/>
          </a:p>
        </p:txBody>
      </p:sp>
      <p:sp>
        <p:nvSpPr>
          <p:cNvPr id="29" name="Shape 21"/>
          <p:cNvSpPr/>
          <p:nvPr/>
        </p:nvSpPr>
        <p:spPr>
          <a:xfrm>
            <a:off x="9290650" y="2245727"/>
            <a:ext cx="482600" cy="482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</p:spPr>
      </p:sp>
      <p:pic>
        <p:nvPicPr>
          <p:cNvPr id="30" name="Image 6" descr="img/ic_Packag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7650" y="2372727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023950" y="2766427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Inventory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management</a:t>
            </a:r>
            <a:endParaRPr lang="en-US" sz="650" dirty="0"/>
          </a:p>
        </p:txBody>
      </p:sp>
      <p:sp>
        <p:nvSpPr>
          <p:cNvPr id="32" name="Shape 23"/>
          <p:cNvSpPr/>
          <p:nvPr/>
        </p:nvSpPr>
        <p:spPr>
          <a:xfrm>
            <a:off x="9621714" y="3696212"/>
            <a:ext cx="482600" cy="482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</p:spPr>
      </p:sp>
      <p:pic>
        <p:nvPicPr>
          <p:cNvPr id="33" name="Image 7" descr="img/ic_Cart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8714" y="382321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355014" y="4216912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Procurement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management</a:t>
            </a:r>
            <a:endParaRPr lang="en-US" sz="650" dirty="0"/>
          </a:p>
        </p:txBody>
      </p:sp>
      <p:sp>
        <p:nvSpPr>
          <p:cNvPr id="35" name="Shape 25"/>
          <p:cNvSpPr/>
          <p:nvPr/>
        </p:nvSpPr>
        <p:spPr>
          <a:xfrm>
            <a:off x="8694094" y="4859411"/>
            <a:ext cx="482600" cy="482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</p:spPr>
      </p:sp>
      <p:pic>
        <p:nvPicPr>
          <p:cNvPr id="36" name="Image 8" descr="img/ic_Truck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1094" y="4986411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427394" y="5380111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Supply chain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management</a:t>
            </a:r>
            <a:endParaRPr lang="en-US" sz="650" dirty="0"/>
          </a:p>
        </p:txBody>
      </p:sp>
      <p:sp>
        <p:nvSpPr>
          <p:cNvPr id="38" name="Shape 27"/>
          <p:cNvSpPr/>
          <p:nvPr/>
        </p:nvSpPr>
        <p:spPr>
          <a:xfrm>
            <a:off x="7206306" y="4859411"/>
            <a:ext cx="482600" cy="482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</p:spPr>
      </p:sp>
      <p:pic>
        <p:nvPicPr>
          <p:cNvPr id="39" name="Image 9" descr="img/ic_Users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306" y="4986411"/>
            <a:ext cx="228600" cy="2286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939606" y="5380111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Human capital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management</a:t>
            </a:r>
            <a:endParaRPr lang="en-US" sz="650" dirty="0"/>
          </a:p>
        </p:txBody>
      </p:sp>
      <p:sp>
        <p:nvSpPr>
          <p:cNvPr id="41" name="Shape 29"/>
          <p:cNvSpPr/>
          <p:nvPr/>
        </p:nvSpPr>
        <p:spPr>
          <a:xfrm>
            <a:off x="6278686" y="3696212"/>
            <a:ext cx="482600" cy="482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</p:spPr>
      </p:sp>
      <p:pic>
        <p:nvPicPr>
          <p:cNvPr id="42" name="Image 10" descr="img/ic_Checklist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5686" y="3823212"/>
            <a:ext cx="228600" cy="2286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6011986" y="4216912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Project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management</a:t>
            </a:r>
            <a:endParaRPr lang="en-US" sz="650" dirty="0"/>
          </a:p>
        </p:txBody>
      </p:sp>
      <p:sp>
        <p:nvSpPr>
          <p:cNvPr id="44" name="Shape 31"/>
          <p:cNvSpPr/>
          <p:nvPr/>
        </p:nvSpPr>
        <p:spPr>
          <a:xfrm>
            <a:off x="6609750" y="2245727"/>
            <a:ext cx="482600" cy="482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</p:spPr>
      </p:sp>
      <p:pic>
        <p:nvPicPr>
          <p:cNvPr id="45" name="Image 11" descr="img/ic_Chat_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6750" y="2372727"/>
            <a:ext cx="228600" cy="228600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343050" y="2766427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272C"/>
                </a:solidFill>
              </a:rPr>
              <a:t>Customer experience</a:t>
            </a:r>
            <a:endParaRPr lang="en-US" sz="650" dirty="0"/>
          </a:p>
        </p:txBody>
      </p:sp>
      <p:sp>
        <p:nvSpPr>
          <p:cNvPr id="47" name="Shape 33"/>
          <p:cNvSpPr/>
          <p:nvPr/>
        </p:nvSpPr>
        <p:spPr>
          <a:xfrm>
            <a:off x="9007475" y="1174303"/>
            <a:ext cx="97155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7C2FF"/>
            </a:solidFill>
            <a:prstDash val="solid"/>
          </a:ln>
        </p:spPr>
      </p:sp>
      <p:sp>
        <p:nvSpPr>
          <p:cNvPr id="48" name="Shape 34"/>
          <p:cNvSpPr/>
          <p:nvPr/>
        </p:nvSpPr>
        <p:spPr>
          <a:xfrm>
            <a:off x="9096375" y="1263203"/>
            <a:ext cx="76200" cy="76200"/>
          </a:xfrm>
          <a:prstGeom prst="ellipse">
            <a:avLst/>
          </a:prstGeom>
          <a:solidFill>
            <a:srgbClr val="5E05FF"/>
          </a:solidFill>
          <a:ln/>
        </p:spPr>
      </p:sp>
      <p:sp>
        <p:nvSpPr>
          <p:cNvPr id="49" name="Text 35"/>
          <p:cNvSpPr txBox="1"/>
          <p:nvPr/>
        </p:nvSpPr>
        <p:spPr>
          <a:xfrm>
            <a:off x="9210675" y="1174303"/>
            <a:ext cx="7175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600C9"/>
                </a:solidFill>
              </a:rPr>
              <a:t>Sales agents</a:t>
            </a:r>
            <a:endParaRPr lang="en-US" sz="700" dirty="0"/>
          </a:p>
        </p:txBody>
      </p:sp>
      <p:sp>
        <p:nvSpPr>
          <p:cNvPr id="50" name="Shape 36"/>
          <p:cNvSpPr/>
          <p:nvPr/>
        </p:nvSpPr>
        <p:spPr>
          <a:xfrm>
            <a:off x="10121900" y="3429000"/>
            <a:ext cx="13462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7C2FF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10210800" y="3517900"/>
            <a:ext cx="76200" cy="76200"/>
          </a:xfrm>
          <a:prstGeom prst="ellipse">
            <a:avLst/>
          </a:prstGeom>
          <a:solidFill>
            <a:srgbClr val="5E05FF"/>
          </a:solidFill>
          <a:ln/>
        </p:spPr>
      </p:sp>
      <p:sp>
        <p:nvSpPr>
          <p:cNvPr id="52" name="Text 38"/>
          <p:cNvSpPr txBox="1"/>
          <p:nvPr/>
        </p:nvSpPr>
        <p:spPr>
          <a:xfrm>
            <a:off x="10325100" y="3429000"/>
            <a:ext cx="1092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600C9"/>
                </a:solidFill>
              </a:rPr>
              <a:t>Supply chain agents</a:t>
            </a:r>
            <a:endParaRPr lang="en-US" sz="700" dirty="0"/>
          </a:p>
        </p:txBody>
      </p:sp>
      <p:sp>
        <p:nvSpPr>
          <p:cNvPr id="53" name="Shape 39"/>
          <p:cNvSpPr/>
          <p:nvPr/>
        </p:nvSpPr>
        <p:spPr>
          <a:xfrm>
            <a:off x="9086850" y="5683697"/>
            <a:ext cx="8128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7C2FF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9175750" y="5772597"/>
            <a:ext cx="76200" cy="76200"/>
          </a:xfrm>
          <a:prstGeom prst="ellipse">
            <a:avLst/>
          </a:prstGeom>
          <a:solidFill>
            <a:srgbClr val="5E05FF"/>
          </a:solidFill>
          <a:ln/>
        </p:spPr>
      </p:sp>
      <p:sp>
        <p:nvSpPr>
          <p:cNvPr id="55" name="Text 41"/>
          <p:cNvSpPr txBox="1"/>
          <p:nvPr/>
        </p:nvSpPr>
        <p:spPr>
          <a:xfrm>
            <a:off x="9290050" y="5683697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600C9"/>
                </a:solidFill>
              </a:rPr>
              <a:t>HR agents</a:t>
            </a:r>
            <a:endParaRPr lang="en-US" sz="700" dirty="0"/>
          </a:p>
        </p:txBody>
      </p:sp>
      <p:sp>
        <p:nvSpPr>
          <p:cNvPr id="56" name="Shape 42"/>
          <p:cNvSpPr/>
          <p:nvPr/>
        </p:nvSpPr>
        <p:spPr>
          <a:xfrm>
            <a:off x="6270625" y="5683697"/>
            <a:ext cx="123825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7C2FF"/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6359525" y="5772597"/>
            <a:ext cx="76200" cy="76200"/>
          </a:xfrm>
          <a:prstGeom prst="ellipse">
            <a:avLst/>
          </a:prstGeom>
          <a:solidFill>
            <a:srgbClr val="5E05FF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6473825" y="5683697"/>
            <a:ext cx="9842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600C9"/>
                </a:solidFill>
              </a:rPr>
              <a:t>Operations agents</a:t>
            </a:r>
            <a:endParaRPr lang="en-US" sz="700" dirty="0"/>
          </a:p>
        </p:txBody>
      </p:sp>
      <p:sp>
        <p:nvSpPr>
          <p:cNvPr id="59" name="Shape 45"/>
          <p:cNvSpPr/>
          <p:nvPr/>
        </p:nvSpPr>
        <p:spPr>
          <a:xfrm>
            <a:off x="5181600" y="3429000"/>
            <a:ext cx="8128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7C2FF"/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5270500" y="3517900"/>
            <a:ext cx="76200" cy="76200"/>
          </a:xfrm>
          <a:prstGeom prst="ellipse">
            <a:avLst/>
          </a:prstGeom>
          <a:solidFill>
            <a:srgbClr val="5E05FF"/>
          </a:solidFill>
          <a:ln/>
        </p:spPr>
      </p:sp>
      <p:sp>
        <p:nvSpPr>
          <p:cNvPr id="61" name="Text 47"/>
          <p:cNvSpPr txBox="1"/>
          <p:nvPr/>
        </p:nvSpPr>
        <p:spPr>
          <a:xfrm>
            <a:off x="5384800" y="3429000"/>
            <a:ext cx="55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600C9"/>
                </a:solidFill>
              </a:rPr>
              <a:t>CX agents</a:t>
            </a:r>
            <a:endParaRPr lang="en-US" sz="700" dirty="0"/>
          </a:p>
        </p:txBody>
      </p:sp>
      <p:sp>
        <p:nvSpPr>
          <p:cNvPr id="62" name="Shape 48"/>
          <p:cNvSpPr/>
          <p:nvPr/>
        </p:nvSpPr>
        <p:spPr>
          <a:xfrm>
            <a:off x="6350000" y="1174303"/>
            <a:ext cx="10795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7C2FF"/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6438900" y="1263203"/>
            <a:ext cx="76200" cy="76200"/>
          </a:xfrm>
          <a:prstGeom prst="ellipse">
            <a:avLst/>
          </a:prstGeom>
          <a:solidFill>
            <a:srgbClr val="5E05FF"/>
          </a:solidFill>
          <a:ln/>
        </p:spPr>
      </p:sp>
      <p:sp>
        <p:nvSpPr>
          <p:cNvPr id="64" name="Text 50"/>
          <p:cNvSpPr txBox="1"/>
          <p:nvPr/>
        </p:nvSpPr>
        <p:spPr>
          <a:xfrm>
            <a:off x="6553200" y="1174303"/>
            <a:ext cx="825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600C9"/>
                </a:solidFill>
              </a:rPr>
              <a:t>Finance agents</a:t>
            </a:r>
            <a:endParaRPr lang="en-US" sz="700" dirty="0"/>
          </a:p>
        </p:txBody>
      </p:sp>
      <p:sp>
        <p:nvSpPr>
          <p:cNvPr id="65" name="Shape 51"/>
          <p:cNvSpPr/>
          <p:nvPr/>
        </p:nvSpPr>
        <p:spPr>
          <a:xfrm>
            <a:off x="6858000" y="838200"/>
            <a:ext cx="2667000" cy="228600"/>
          </a:xfrm>
          <a:prstGeom prst="roundRect">
            <a:avLst>
              <a:gd name="adj" fmla="val 50000"/>
            </a:avLst>
          </a:prstGeom>
          <a:solidFill>
            <a:srgbClr val="5E05FF"/>
          </a:solidFill>
          <a:ln/>
        </p:spPr>
      </p:sp>
      <p:sp>
        <p:nvSpPr>
          <p:cNvPr id="66" name="Text 52"/>
          <p:cNvSpPr txBox="1"/>
          <p:nvPr/>
        </p:nvSpPr>
        <p:spPr>
          <a:xfrm>
            <a:off x="6858000" y="8382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AI AGENTS ORCHESTRATE END-TO-END PROCESSES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644"/>
          </a:solidFill>
          <a:ln/>
        </p:spPr>
      </p:sp>
      <p:pic>
        <p:nvPicPr>
          <p:cNvPr id="3" name="Footer logo" descr="img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4" name="Footer URL"/>
          <p:cNvSpPr txBox="1"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E6FD"/>
                </a:solidFill>
              </a:rPr>
              <a:t>zoho.com/creator</a:t>
            </a:r>
            <a:endParaRPr lang="en-US" sz="800" dirty="0"/>
          </a:p>
        </p:txBody>
      </p:sp>
      <p:pic>
        <p:nvPicPr>
          <p:cNvPr id="5" name="AI gradient panel" descr="img/grad_ai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0" y="0"/>
            <a:ext cx="4318000" cy="685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2000" y="120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ED70B"/>
                </a:solidFill>
              </a:rPr>
              <a:t>04 / AI, BUILT IN</a:t>
            </a:r>
            <a:endParaRPr lang="en-US" sz="1000" dirty="0"/>
          </a:p>
        </p:txBody>
      </p:sp>
      <p:sp>
        <p:nvSpPr>
          <p:cNvPr id="7" name="Title"/>
          <p:cNvSpPr txBox="1"/>
          <p:nvPr/>
        </p:nvSpPr>
        <p:spPr>
          <a:xfrm>
            <a:off x="762000" y="1460500"/>
            <a:ext cx="6350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Zia turns natural language into apps.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762000" y="339090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ED70B"/>
                </a:solidFill>
              </a:rPr>
              <a:t>DESCRIBE</a:t>
            </a:r>
            <a:endParaRPr lang="en-US" sz="700" dirty="0"/>
          </a:p>
        </p:txBody>
      </p:sp>
      <p:sp>
        <p:nvSpPr>
          <p:cNvPr id="9" name="Text 5"/>
          <p:cNvSpPr txBox="1"/>
          <p:nvPr/>
        </p:nvSpPr>
        <p:spPr>
          <a:xfrm>
            <a:off x="2159000" y="3365500"/>
            <a:ext cx="5334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“A leave tracker with manager approval”: schema and workflow drafted.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62000" y="392430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ED70B"/>
                </a:solidFill>
              </a:rPr>
              <a:t>PREDICT</a:t>
            </a:r>
            <a:endParaRPr lang="en-US" sz="700" dirty="0"/>
          </a:p>
        </p:txBody>
      </p:sp>
      <p:sp>
        <p:nvSpPr>
          <p:cNvPr id="11" name="Text 7"/>
          <p:cNvSpPr txBox="1"/>
          <p:nvPr/>
        </p:nvSpPr>
        <p:spPr>
          <a:xfrm>
            <a:off x="2159000" y="3898900"/>
            <a:ext cx="5334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Forecast churn, lead score and ticket priority on your own data.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2000" y="445770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ED70B"/>
                </a:solidFill>
              </a:rPr>
              <a:t>SUMMARISE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2159000" y="4432300"/>
            <a:ext cx="5334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One-click record, thread and report summaries.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2000" y="499110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ED70B"/>
                </a:solidFill>
              </a:rPr>
              <a:t>EXTRACT</a:t>
            </a:r>
            <a:endParaRPr lang="en-US" sz="700" dirty="0"/>
          </a:p>
        </p:txBody>
      </p:sp>
      <p:sp>
        <p:nvSpPr>
          <p:cNvPr id="15" name="Text 11"/>
          <p:cNvSpPr txBox="1"/>
          <p:nvPr/>
        </p:nvSpPr>
        <p:spPr>
          <a:xfrm>
            <a:off x="2159000" y="4965700"/>
            <a:ext cx="5334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Pull fields from PDFs, emails and scanned forms.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382000" y="1460500"/>
            <a:ext cx="254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POWERED BY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8382000" y="1714500"/>
            <a:ext cx="3175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Zia.</a:t>
            </a:r>
            <a:endParaRPr lang="en-US" sz="4400" dirty="0"/>
          </a:p>
        </p:txBody>
      </p:sp>
      <p:sp>
        <p:nvSpPr>
          <p:cNvPr id="18" name="Text 14"/>
          <p:cNvSpPr txBox="1"/>
          <p:nvPr/>
        </p:nvSpPr>
        <p:spPr>
          <a:xfrm>
            <a:off x="8382000" y="25400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AI assistant trained on business app patterns, not the open internet.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DDE6F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MOBILE, DAY ONE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62000" y="1079500"/>
            <a:ext cx="508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Every app you build runs on iOS and Android</a:t>
            </a:r>
            <a:endParaRPr lang="en-US" sz="3600" dirty="0"/>
          </a:p>
        </p:txBody>
      </p:sp>
      <p:pic>
        <p:nvPicPr>
          <p:cNvPr id="4" name="Image 0" descr="img/ic_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111500"/>
            <a:ext cx="177800" cy="177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3111500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Native iOS and Android apps, generated automatically</a:t>
            </a:r>
            <a:endParaRPr lang="en-US" sz="1000" dirty="0"/>
          </a:p>
        </p:txBody>
      </p:sp>
      <p:pic>
        <p:nvPicPr>
          <p:cNvPr id="6" name="Image 1" descr="img/ic_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68700"/>
            <a:ext cx="177800" cy="177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1400" y="3568700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Offline data capture for field teams</a:t>
            </a:r>
            <a:endParaRPr lang="en-US" sz="1000" dirty="0"/>
          </a:p>
        </p:txBody>
      </p:sp>
      <p:pic>
        <p:nvPicPr>
          <p:cNvPr id="8" name="Image 2" descr="img/ic_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25900"/>
            <a:ext cx="177800" cy="1778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41400" y="4025900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Barcode scanning, photos, location and signatures</a:t>
            </a:r>
            <a:endParaRPr lang="en-US" sz="1000" dirty="0"/>
          </a:p>
        </p:txBody>
      </p:sp>
      <p:sp>
        <p:nvSpPr>
          <p:cNvPr id="10" name="Phone (sample UI, replace)"/>
          <p:cNvSpPr/>
          <p:nvPr/>
        </p:nvSpPr>
        <p:spPr>
          <a:xfrm>
            <a:off x="6350000" y="698500"/>
            <a:ext cx="2159000" cy="4445000"/>
          </a:xfrm>
          <a:prstGeom prst="roundRect">
            <a:avLst>
              <a:gd name="adj" fmla="val 14118"/>
            </a:avLst>
          </a:prstGeom>
          <a:solidFill>
            <a:srgbClr val="25272C"/>
          </a:solidFill>
          <a:ln/>
        </p:spPr>
      </p:sp>
      <p:sp>
        <p:nvSpPr>
          <p:cNvPr id="11" name="Shape 6"/>
          <p:cNvSpPr/>
          <p:nvPr/>
        </p:nvSpPr>
        <p:spPr>
          <a:xfrm>
            <a:off x="6438900" y="787400"/>
            <a:ext cx="1981200" cy="4267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2" name="Shape 7"/>
          <p:cNvSpPr/>
          <p:nvPr/>
        </p:nvSpPr>
        <p:spPr>
          <a:xfrm>
            <a:off x="6438900" y="787400"/>
            <a:ext cx="1981200" cy="609600"/>
          </a:xfrm>
          <a:prstGeom prst="roundRect">
            <a:avLst>
              <a:gd name="adj" fmla="val 37500"/>
            </a:avLst>
          </a:prstGeom>
          <a:solidFill>
            <a:srgbClr val="0D4EF2"/>
          </a:solidFill>
          <a:ln/>
        </p:spPr>
      </p:sp>
      <p:sp>
        <p:nvSpPr>
          <p:cNvPr id="13" name="Shape 8"/>
          <p:cNvSpPr/>
          <p:nvPr/>
        </p:nvSpPr>
        <p:spPr>
          <a:xfrm>
            <a:off x="6438900" y="1092200"/>
            <a:ext cx="1981200" cy="3048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591300" y="1054100"/>
            <a:ext cx="17145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Site inspections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540500" y="15494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642100" y="16383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Warehouse 4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6642100" y="18288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Today · 10:30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7620000" y="1651000"/>
            <a:ext cx="419100" cy="171450"/>
          </a:xfrm>
          <a:prstGeom prst="roundRect">
            <a:avLst>
              <a:gd name="adj" fmla="val 14815"/>
            </a:avLst>
          </a:prstGeom>
          <a:solidFill>
            <a:srgbClr val="EDFDF4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620000" y="1651000"/>
            <a:ext cx="419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056B33"/>
                </a:solidFill>
              </a:rPr>
              <a:t>DONE</a:t>
            </a:r>
            <a:endParaRPr lang="en-US" sz="550" dirty="0"/>
          </a:p>
        </p:txBody>
      </p:sp>
      <p:sp>
        <p:nvSpPr>
          <p:cNvPr id="20" name="Shape 15"/>
          <p:cNvSpPr/>
          <p:nvPr/>
        </p:nvSpPr>
        <p:spPr>
          <a:xfrm>
            <a:off x="6540500" y="21336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642100" y="22225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Plant B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6642100" y="24130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Today · 14:00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7620000" y="2235200"/>
            <a:ext cx="584200" cy="171450"/>
          </a:xfrm>
          <a:prstGeom prst="roundRect">
            <a:avLst>
              <a:gd name="adj" fmla="val 14815"/>
            </a:avLst>
          </a:prstGeom>
          <a:solidFill>
            <a:srgbClr val="FFFADE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620000" y="2235200"/>
            <a:ext cx="584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25272C"/>
                </a:solidFill>
              </a:rPr>
              <a:t>PENDING</a:t>
            </a:r>
            <a:endParaRPr lang="en-US" sz="550" dirty="0"/>
          </a:p>
        </p:txBody>
      </p:sp>
      <p:sp>
        <p:nvSpPr>
          <p:cNvPr id="25" name="Shape 20"/>
          <p:cNvSpPr/>
          <p:nvPr/>
        </p:nvSpPr>
        <p:spPr>
          <a:xfrm>
            <a:off x="6540500" y="27178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42100" y="28067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Depot 12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6642100" y="29972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Tomorrow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7620000" y="2819400"/>
            <a:ext cx="584200" cy="171450"/>
          </a:xfrm>
          <a:prstGeom prst="roundRect">
            <a:avLst>
              <a:gd name="adj" fmla="val 14815"/>
            </a:avLst>
          </a:prstGeom>
          <a:solidFill>
            <a:srgbClr val="E7EDF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620000" y="2819400"/>
            <a:ext cx="584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0A3BB8"/>
                </a:solidFill>
              </a:rPr>
              <a:t>PLANNED</a:t>
            </a:r>
            <a:endParaRPr lang="en-US" sz="550" dirty="0"/>
          </a:p>
        </p:txBody>
      </p:sp>
      <p:sp>
        <p:nvSpPr>
          <p:cNvPr id="30" name="Shape 25"/>
          <p:cNvSpPr/>
          <p:nvPr/>
        </p:nvSpPr>
        <p:spPr>
          <a:xfrm>
            <a:off x="6540500" y="33020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642100" y="33909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Store 33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6642100" y="35814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Fri · 09:00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7620000" y="3403600"/>
            <a:ext cx="584200" cy="171450"/>
          </a:xfrm>
          <a:prstGeom prst="roundRect">
            <a:avLst>
              <a:gd name="adj" fmla="val 14815"/>
            </a:avLst>
          </a:prstGeom>
          <a:solidFill>
            <a:srgbClr val="E7EDFE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620000" y="3403600"/>
            <a:ext cx="584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0A3BB8"/>
                </a:solidFill>
              </a:rPr>
              <a:t>PLANNED</a:t>
            </a:r>
            <a:endParaRPr lang="en-US" sz="550" dirty="0"/>
          </a:p>
        </p:txBody>
      </p:sp>
      <p:sp>
        <p:nvSpPr>
          <p:cNvPr id="35" name="Shape 30"/>
          <p:cNvSpPr/>
          <p:nvPr/>
        </p:nvSpPr>
        <p:spPr>
          <a:xfrm>
            <a:off x="6540500" y="38862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642100" y="39751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Hub North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6642100" y="41656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Mon · 11:00</a:t>
            </a:r>
            <a:endParaRPr lang="en-US" sz="700" dirty="0"/>
          </a:p>
        </p:txBody>
      </p:sp>
      <p:sp>
        <p:nvSpPr>
          <p:cNvPr id="38" name="Shape 33"/>
          <p:cNvSpPr/>
          <p:nvPr/>
        </p:nvSpPr>
        <p:spPr>
          <a:xfrm>
            <a:off x="7620000" y="3987800"/>
            <a:ext cx="584200" cy="171450"/>
          </a:xfrm>
          <a:prstGeom prst="roundRect">
            <a:avLst>
              <a:gd name="adj" fmla="val 14815"/>
            </a:avLst>
          </a:prstGeom>
          <a:solidFill>
            <a:srgbClr val="E7EDFE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7620000" y="3987800"/>
            <a:ext cx="584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0A3BB8"/>
                </a:solidFill>
              </a:rPr>
              <a:t>PLANNED</a:t>
            </a:r>
            <a:endParaRPr lang="en-US" sz="550" dirty="0"/>
          </a:p>
        </p:txBody>
      </p:sp>
      <p:sp>
        <p:nvSpPr>
          <p:cNvPr id="40" name="Shape 35"/>
          <p:cNvSpPr/>
          <p:nvPr/>
        </p:nvSpPr>
        <p:spPr>
          <a:xfrm>
            <a:off x="6540500" y="4546600"/>
            <a:ext cx="1778000" cy="330200"/>
          </a:xfrm>
          <a:prstGeom prst="roundRect">
            <a:avLst>
              <a:gd name="adj" fmla="val 7692"/>
            </a:avLst>
          </a:prstGeom>
          <a:solidFill>
            <a:srgbClr val="E81D17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540500" y="4546600"/>
            <a:ext cx="177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+ New inspection</a:t>
            </a:r>
            <a:endParaRPr lang="en-US" sz="800" dirty="0"/>
          </a:p>
        </p:txBody>
      </p:sp>
      <p:sp>
        <p:nvSpPr>
          <p:cNvPr id="42" name="Phone (sample UI, replace)"/>
          <p:cNvSpPr/>
          <p:nvPr/>
        </p:nvSpPr>
        <p:spPr>
          <a:xfrm>
            <a:off x="8890000" y="1206500"/>
            <a:ext cx="2159000" cy="4445000"/>
          </a:xfrm>
          <a:prstGeom prst="roundRect">
            <a:avLst>
              <a:gd name="adj" fmla="val 14118"/>
            </a:avLst>
          </a:prstGeom>
          <a:solidFill>
            <a:srgbClr val="25272C"/>
          </a:solidFill>
          <a:ln/>
        </p:spPr>
      </p:sp>
      <p:sp>
        <p:nvSpPr>
          <p:cNvPr id="43" name="Shape 38"/>
          <p:cNvSpPr/>
          <p:nvPr/>
        </p:nvSpPr>
        <p:spPr>
          <a:xfrm>
            <a:off x="8978900" y="1295400"/>
            <a:ext cx="1981200" cy="4267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44" name="Shape 39"/>
          <p:cNvSpPr/>
          <p:nvPr/>
        </p:nvSpPr>
        <p:spPr>
          <a:xfrm>
            <a:off x="8978900" y="1295400"/>
            <a:ext cx="1981200" cy="609600"/>
          </a:xfrm>
          <a:prstGeom prst="roundRect">
            <a:avLst>
              <a:gd name="adj" fmla="val 37500"/>
            </a:avLst>
          </a:prstGeom>
          <a:solidFill>
            <a:srgbClr val="0D4EF2"/>
          </a:solidFill>
          <a:ln/>
        </p:spPr>
      </p:sp>
      <p:sp>
        <p:nvSpPr>
          <p:cNvPr id="45" name="Shape 40"/>
          <p:cNvSpPr/>
          <p:nvPr/>
        </p:nvSpPr>
        <p:spPr>
          <a:xfrm>
            <a:off x="8978900" y="1600200"/>
            <a:ext cx="1981200" cy="3048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9131300" y="1562100"/>
            <a:ext cx="17145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Approvals</a:t>
            </a:r>
            <a:endParaRPr lang="en-US" sz="1600" dirty="0"/>
          </a:p>
        </p:txBody>
      </p:sp>
      <p:sp>
        <p:nvSpPr>
          <p:cNvPr id="47" name="Shape 42"/>
          <p:cNvSpPr/>
          <p:nvPr/>
        </p:nvSpPr>
        <p:spPr>
          <a:xfrm>
            <a:off x="9080500" y="20574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9182100" y="21463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Laptops x12</a:t>
            </a:r>
            <a:endParaRPr lang="en-US" sz="800" dirty="0"/>
          </a:p>
        </p:txBody>
      </p:sp>
      <p:sp>
        <p:nvSpPr>
          <p:cNvPr id="49" name="Text 44"/>
          <p:cNvSpPr txBox="1"/>
          <p:nvPr/>
        </p:nvSpPr>
        <p:spPr>
          <a:xfrm>
            <a:off x="9182100" y="23368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Priya S.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10160000" y="2159000"/>
            <a:ext cx="584200" cy="171450"/>
          </a:xfrm>
          <a:prstGeom prst="roundRect">
            <a:avLst>
              <a:gd name="adj" fmla="val 14815"/>
            </a:avLst>
          </a:prstGeom>
          <a:solidFill>
            <a:srgbClr val="FFFADE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10160000" y="2159000"/>
            <a:ext cx="584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25272C"/>
                </a:solidFill>
              </a:rPr>
              <a:t>PENDING</a:t>
            </a:r>
            <a:endParaRPr lang="en-US" sz="550" dirty="0"/>
          </a:p>
        </p:txBody>
      </p:sp>
      <p:sp>
        <p:nvSpPr>
          <p:cNvPr id="52" name="Shape 47"/>
          <p:cNvSpPr/>
          <p:nvPr/>
        </p:nvSpPr>
        <p:spPr>
          <a:xfrm>
            <a:off x="9080500" y="26416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9182100" y="27305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Office chairs</a:t>
            </a:r>
            <a:endParaRPr lang="en-US" sz="800" dirty="0"/>
          </a:p>
        </p:txBody>
      </p:sp>
      <p:sp>
        <p:nvSpPr>
          <p:cNvPr id="54" name="Text 49"/>
          <p:cNvSpPr txBox="1"/>
          <p:nvPr/>
        </p:nvSpPr>
        <p:spPr>
          <a:xfrm>
            <a:off x="9182100" y="29210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Arun K.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10160000" y="2743200"/>
            <a:ext cx="641350" cy="171450"/>
          </a:xfrm>
          <a:prstGeom prst="roundRect">
            <a:avLst>
              <a:gd name="adj" fmla="val 14815"/>
            </a:avLst>
          </a:prstGeom>
          <a:solidFill>
            <a:srgbClr val="EDFDF4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10160000" y="2743200"/>
            <a:ext cx="641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056B33"/>
                </a:solidFill>
              </a:rPr>
              <a:t>APPROVED</a:t>
            </a:r>
            <a:endParaRPr lang="en-US" sz="550" dirty="0"/>
          </a:p>
        </p:txBody>
      </p:sp>
      <p:sp>
        <p:nvSpPr>
          <p:cNvPr id="57" name="Shape 52"/>
          <p:cNvSpPr/>
          <p:nvPr/>
        </p:nvSpPr>
        <p:spPr>
          <a:xfrm>
            <a:off x="9080500" y="32258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9182100" y="33147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Cloud credits</a:t>
            </a:r>
            <a:endParaRPr lang="en-US" sz="800" dirty="0"/>
          </a:p>
        </p:txBody>
      </p:sp>
      <p:sp>
        <p:nvSpPr>
          <p:cNvPr id="59" name="Text 54"/>
          <p:cNvSpPr txBox="1"/>
          <p:nvPr/>
        </p:nvSpPr>
        <p:spPr>
          <a:xfrm>
            <a:off x="9182100" y="35052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Meera R.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10160000" y="3327400"/>
            <a:ext cx="527050" cy="171450"/>
          </a:xfrm>
          <a:prstGeom prst="roundRect">
            <a:avLst>
              <a:gd name="adj" fmla="val 14815"/>
            </a:avLst>
          </a:prstGeom>
          <a:solidFill>
            <a:srgbClr val="E7EDFE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10160000" y="3327400"/>
            <a:ext cx="527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0A3BB8"/>
                </a:solidFill>
              </a:rPr>
              <a:t>REVIEW</a:t>
            </a:r>
            <a:endParaRPr lang="en-US" sz="550" dirty="0"/>
          </a:p>
        </p:txBody>
      </p:sp>
      <p:sp>
        <p:nvSpPr>
          <p:cNvPr id="62" name="Shape 57"/>
          <p:cNvSpPr/>
          <p:nvPr/>
        </p:nvSpPr>
        <p:spPr>
          <a:xfrm>
            <a:off x="9080500" y="38100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9182100" y="38989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Event booth</a:t>
            </a:r>
            <a:endParaRPr lang="en-US" sz="800" dirty="0"/>
          </a:p>
        </p:txBody>
      </p:sp>
      <p:sp>
        <p:nvSpPr>
          <p:cNvPr id="64" name="Text 59"/>
          <p:cNvSpPr txBox="1"/>
          <p:nvPr/>
        </p:nvSpPr>
        <p:spPr>
          <a:xfrm>
            <a:off x="9182100" y="40894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Rahul D.</a:t>
            </a:r>
            <a:endParaRPr lang="en-US" sz="700" dirty="0"/>
          </a:p>
        </p:txBody>
      </p:sp>
      <p:sp>
        <p:nvSpPr>
          <p:cNvPr id="65" name="Shape 60"/>
          <p:cNvSpPr/>
          <p:nvPr/>
        </p:nvSpPr>
        <p:spPr>
          <a:xfrm>
            <a:off x="10160000" y="3911600"/>
            <a:ext cx="584200" cy="171450"/>
          </a:xfrm>
          <a:prstGeom prst="roundRect">
            <a:avLst>
              <a:gd name="adj" fmla="val 14815"/>
            </a:avLst>
          </a:prstGeom>
          <a:solidFill>
            <a:srgbClr val="FFFADE"/>
          </a:solidFill>
          <a:ln/>
        </p:spPr>
      </p:sp>
      <p:sp>
        <p:nvSpPr>
          <p:cNvPr id="66" name="Text 61"/>
          <p:cNvSpPr txBox="1"/>
          <p:nvPr/>
        </p:nvSpPr>
        <p:spPr>
          <a:xfrm>
            <a:off x="10160000" y="3911600"/>
            <a:ext cx="584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25272C"/>
                </a:solidFill>
              </a:rPr>
              <a:t>PENDING</a:t>
            </a:r>
            <a:endParaRPr lang="en-US" sz="550" dirty="0"/>
          </a:p>
        </p:txBody>
      </p:sp>
      <p:sp>
        <p:nvSpPr>
          <p:cNvPr id="67" name="Shape 62"/>
          <p:cNvSpPr/>
          <p:nvPr/>
        </p:nvSpPr>
        <p:spPr>
          <a:xfrm>
            <a:off x="9080500" y="4394200"/>
            <a:ext cx="1778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9182100" y="4483100"/>
            <a:ext cx="1016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Licences</a:t>
            </a:r>
            <a:endParaRPr lang="en-US" sz="800" dirty="0"/>
          </a:p>
        </p:txBody>
      </p:sp>
      <p:sp>
        <p:nvSpPr>
          <p:cNvPr id="69" name="Text 64"/>
          <p:cNvSpPr txBox="1"/>
          <p:nvPr/>
        </p:nvSpPr>
        <p:spPr>
          <a:xfrm>
            <a:off x="9182100" y="4673600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Anita P.</a:t>
            </a:r>
            <a:endParaRPr lang="en-US" sz="700" dirty="0"/>
          </a:p>
        </p:txBody>
      </p:sp>
      <p:sp>
        <p:nvSpPr>
          <p:cNvPr id="70" name="Shape 65"/>
          <p:cNvSpPr/>
          <p:nvPr/>
        </p:nvSpPr>
        <p:spPr>
          <a:xfrm>
            <a:off x="10160000" y="4495800"/>
            <a:ext cx="641350" cy="171450"/>
          </a:xfrm>
          <a:prstGeom prst="roundRect">
            <a:avLst>
              <a:gd name="adj" fmla="val 14815"/>
            </a:avLst>
          </a:prstGeom>
          <a:solidFill>
            <a:srgbClr val="EDFDF4"/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10160000" y="4495800"/>
            <a:ext cx="641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056B33"/>
                </a:solidFill>
              </a:rPr>
              <a:t>APPROVED</a:t>
            </a:r>
            <a:endParaRPr lang="en-US" sz="550" dirty="0"/>
          </a:p>
        </p:txBody>
      </p:sp>
      <p:sp>
        <p:nvSpPr>
          <p:cNvPr id="72" name="Shape 67"/>
          <p:cNvSpPr/>
          <p:nvPr/>
        </p:nvSpPr>
        <p:spPr>
          <a:xfrm>
            <a:off x="9080500" y="5054600"/>
            <a:ext cx="1778000" cy="330200"/>
          </a:xfrm>
          <a:prstGeom prst="roundRect">
            <a:avLst>
              <a:gd name="adj" fmla="val 7692"/>
            </a:avLst>
          </a:prstGeom>
          <a:solidFill>
            <a:srgbClr val="E81D17"/>
          </a:solidFill>
          <a:ln/>
        </p:spPr>
      </p:sp>
      <p:sp>
        <p:nvSpPr>
          <p:cNvPr id="73" name="Text 68"/>
          <p:cNvSpPr txBox="1"/>
          <p:nvPr/>
        </p:nvSpPr>
        <p:spPr>
          <a:xfrm>
            <a:off x="9080500" y="5054600"/>
            <a:ext cx="177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+ New inspection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CONNECTED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Works with the tools you already use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3302000" cy="952500"/>
          </a:xfrm>
          <a:prstGeom prst="roundRect">
            <a:avLst>
              <a:gd name="adj" fmla="val 5333"/>
            </a:avLst>
          </a:prstGeom>
          <a:solidFill>
            <a:srgbClr val="F5F8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9800" y="2374900"/>
            <a:ext cx="29210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EF2"/>
                </a:solidFill>
              </a:rPr>
              <a:t>500+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39800" y="2832100"/>
            <a:ext cx="292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integrations, plus REST APIs and webhooks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3365500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Native with the Zoho suite, and ready-made connectors for the ERP, CRM and productivity apps your teams use.</a:t>
            </a:r>
            <a:endParaRPr lang="en-US" sz="1200" dirty="0"/>
          </a:p>
        </p:txBody>
      </p:sp>
      <p:sp>
        <p:nvSpPr>
          <p:cNvPr id="8" name="Zoho app"/>
          <p:cNvSpPr/>
          <p:nvPr/>
        </p:nvSpPr>
        <p:spPr>
          <a:xfrm>
            <a:off x="4953000" y="20955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53000" y="23749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Zoho CRM</a:t>
            </a:r>
            <a:endParaRPr lang="en-US" sz="1400" dirty="0"/>
          </a:p>
        </p:txBody>
      </p:sp>
      <p:sp>
        <p:nvSpPr>
          <p:cNvPr id="10" name="Zoho app"/>
          <p:cNvSpPr/>
          <p:nvPr/>
        </p:nvSpPr>
        <p:spPr>
          <a:xfrm>
            <a:off x="6629400" y="20955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3749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Zoho Books</a:t>
            </a:r>
            <a:endParaRPr lang="en-US" sz="1400" dirty="0"/>
          </a:p>
        </p:txBody>
      </p:sp>
      <p:sp>
        <p:nvSpPr>
          <p:cNvPr id="12" name="Zoho app"/>
          <p:cNvSpPr/>
          <p:nvPr/>
        </p:nvSpPr>
        <p:spPr>
          <a:xfrm>
            <a:off x="8305800" y="20955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5800" y="23749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Zoho Desk</a:t>
            </a:r>
            <a:endParaRPr lang="en-US" sz="1400" dirty="0"/>
          </a:p>
        </p:txBody>
      </p:sp>
      <p:sp>
        <p:nvSpPr>
          <p:cNvPr id="14" name="Zoho app"/>
          <p:cNvSpPr/>
          <p:nvPr/>
        </p:nvSpPr>
        <p:spPr>
          <a:xfrm>
            <a:off x="9982200" y="20955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82200" y="23749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Zoho Analytics</a:t>
            </a:r>
            <a:endParaRPr lang="en-US" sz="1400" dirty="0"/>
          </a:p>
        </p:txBody>
      </p:sp>
      <p:sp>
        <p:nvSpPr>
          <p:cNvPr id="16" name="Zoho app"/>
          <p:cNvSpPr/>
          <p:nvPr/>
        </p:nvSpPr>
        <p:spPr>
          <a:xfrm>
            <a:off x="4953000" y="30099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53000" y="32893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Zoho People</a:t>
            </a:r>
            <a:endParaRPr lang="en-US" sz="1400" dirty="0"/>
          </a:p>
        </p:txBody>
      </p:sp>
      <p:sp>
        <p:nvSpPr>
          <p:cNvPr id="18" name="Zoho app"/>
          <p:cNvSpPr/>
          <p:nvPr/>
        </p:nvSpPr>
        <p:spPr>
          <a:xfrm>
            <a:off x="6629400" y="30099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32893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Zoho Projects</a:t>
            </a:r>
            <a:endParaRPr lang="en-US" sz="1400" dirty="0"/>
          </a:p>
        </p:txBody>
      </p:sp>
      <p:sp>
        <p:nvSpPr>
          <p:cNvPr id="20" name="Partner logo (replace)"/>
          <p:cNvSpPr/>
          <p:nvPr/>
        </p:nvSpPr>
        <p:spPr>
          <a:xfrm>
            <a:off x="8305800" y="30099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5800" y="32893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9193"/>
                </a:solidFill>
              </a:rPr>
              <a:t>Partner logo</a:t>
            </a:r>
            <a:endParaRPr lang="en-US" sz="1000" dirty="0"/>
          </a:p>
        </p:txBody>
      </p:sp>
      <p:sp>
        <p:nvSpPr>
          <p:cNvPr id="22" name="Partner logo (replace)"/>
          <p:cNvSpPr/>
          <p:nvPr/>
        </p:nvSpPr>
        <p:spPr>
          <a:xfrm>
            <a:off x="9982200" y="30099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82200" y="32893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9193"/>
                </a:solidFill>
              </a:rPr>
              <a:t>Partner logo</a:t>
            </a:r>
            <a:endParaRPr lang="en-US" sz="1000" dirty="0"/>
          </a:p>
        </p:txBody>
      </p:sp>
      <p:sp>
        <p:nvSpPr>
          <p:cNvPr id="24" name="Partner logo (replace)"/>
          <p:cNvSpPr/>
          <p:nvPr/>
        </p:nvSpPr>
        <p:spPr>
          <a:xfrm>
            <a:off x="4953000" y="39243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3000" y="42037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9193"/>
                </a:solidFill>
              </a:rPr>
              <a:t>Partner logo</a:t>
            </a:r>
            <a:endParaRPr lang="en-US" sz="1000" dirty="0"/>
          </a:p>
        </p:txBody>
      </p:sp>
      <p:sp>
        <p:nvSpPr>
          <p:cNvPr id="26" name="Partner logo (replace)"/>
          <p:cNvSpPr/>
          <p:nvPr/>
        </p:nvSpPr>
        <p:spPr>
          <a:xfrm>
            <a:off x="6629400" y="39243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42037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9193"/>
                </a:solidFill>
              </a:rPr>
              <a:t>Partner logo</a:t>
            </a:r>
            <a:endParaRPr lang="en-US" sz="1000" dirty="0"/>
          </a:p>
        </p:txBody>
      </p:sp>
      <p:sp>
        <p:nvSpPr>
          <p:cNvPr id="28" name="Partner logo (replace)"/>
          <p:cNvSpPr/>
          <p:nvPr/>
        </p:nvSpPr>
        <p:spPr>
          <a:xfrm>
            <a:off x="8305800" y="39243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05800" y="42037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9193"/>
                </a:solidFill>
              </a:rPr>
              <a:t>Partner logo</a:t>
            </a:r>
            <a:endParaRPr lang="en-US" sz="1000" dirty="0"/>
          </a:p>
        </p:txBody>
      </p:sp>
      <p:sp>
        <p:nvSpPr>
          <p:cNvPr id="30" name="Partner logo (replace)"/>
          <p:cNvSpPr/>
          <p:nvPr/>
        </p:nvSpPr>
        <p:spPr>
          <a:xfrm>
            <a:off x="9982200" y="3924300"/>
            <a:ext cx="1524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82200" y="42037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9193"/>
                </a:solidFill>
              </a:rPr>
              <a:t>Partner logo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TRUST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Enterprise-grade security and compliance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/>
        </p:spPr>
      </p:sp>
      <p:pic>
        <p:nvPicPr>
          <p:cNvPr id="5" name="Image 0" descr="img/ic_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2476500"/>
            <a:ext cx="203200" cy="203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6000" y="2806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SOC 2 Type II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16000" y="3124200"/>
            <a:ext cx="2876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Independent audit of security controls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0550" y="2222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/>
        </p:spPr>
      </p:sp>
      <p:pic>
        <p:nvPicPr>
          <p:cNvPr id="9" name="Image 1" descr="img/ic_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50" y="247650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54550" y="2806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ISO 27001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654550" y="3124200"/>
            <a:ext cx="2876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Information security management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39100" y="2222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/>
        </p:spPr>
      </p:sp>
      <p:pic>
        <p:nvPicPr>
          <p:cNvPr id="13" name="Image 2" descr="img/ic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00" y="2476500"/>
            <a:ext cx="203200" cy="203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93100" y="2806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GDPR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293100" y="3124200"/>
            <a:ext cx="2876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Privacy and data protection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62000" y="3873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/>
        </p:spPr>
      </p:sp>
      <p:pic>
        <p:nvPicPr>
          <p:cNvPr id="17" name="Image 3" descr="img/ic_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4127500"/>
            <a:ext cx="203200" cy="203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16000" y="4457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HIPAA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016000" y="4775200"/>
            <a:ext cx="2876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Healthcare data safeguards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00550" y="3873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/>
        </p:spPr>
      </p:sp>
      <p:pic>
        <p:nvPicPr>
          <p:cNvPr id="21" name="Image 4" descr="img/ic_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550" y="4127500"/>
            <a:ext cx="203200" cy="203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654550" y="4457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Data residency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654550" y="4775200"/>
            <a:ext cx="2876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Choose where your data is stored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039100" y="3873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/>
        </p:spPr>
      </p:sp>
      <p:pic>
        <p:nvPicPr>
          <p:cNvPr id="25" name="Image 5" descr="img/ic_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100" y="4127500"/>
            <a:ext cx="203200" cy="203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293100" y="4457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SSO and audit logs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293100" y="4775200"/>
            <a:ext cx="2876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Control access, trace every change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62000" y="56388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4EF2"/>
                </a:solidFill>
              </a:rPr>
              <a:t>Sample list: confirm current certifications with the Zoho security team before use.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SECTION LABEL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Three points, side by side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3384550" cy="330200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2476500"/>
            <a:ext cx="304800" cy="304800"/>
          </a:xfrm>
          <a:prstGeom prst="roundRect">
            <a:avLst>
              <a:gd name="adj" fmla="val 8333"/>
            </a:avLst>
          </a:prstGeom>
          <a:solidFill>
            <a:srgbClr val="0D4E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6000" y="40005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4EF2"/>
                </a:solidFill>
              </a:rPr>
              <a:t>10×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46685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Headline metric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16000" y="49530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explaining what the number means.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0550" y="2222500"/>
            <a:ext cx="3384550" cy="330200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54550" y="2476500"/>
            <a:ext cx="304800" cy="304800"/>
          </a:xfrm>
          <a:prstGeom prst="roundRect">
            <a:avLst>
              <a:gd name="adj" fmla="val 8333"/>
            </a:avLst>
          </a:prstGeom>
          <a:solidFill>
            <a:srgbClr val="0D4E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4550" y="40005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4EF2"/>
                </a:solidFill>
              </a:rPr>
              <a:t>85%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54550" y="46685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Headline metric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54550" y="49530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explaining what the number means.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39100" y="2222500"/>
            <a:ext cx="3384550" cy="330200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3100" y="2476500"/>
            <a:ext cx="304800" cy="304800"/>
          </a:xfrm>
          <a:prstGeom prst="roundRect">
            <a:avLst>
              <a:gd name="adj" fmla="val 8333"/>
            </a:avLst>
          </a:prstGeom>
          <a:solidFill>
            <a:srgbClr val="0D4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93100" y="40005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4EF2"/>
                </a:solidFill>
              </a:rPr>
              <a:t>3×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293100" y="46685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Headline metric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93100" y="49530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A short line explaining what the number means.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GROWTH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Apps built per quarter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70000" y="5143500"/>
            <a:ext cx="10033000" cy="6350"/>
          </a:xfrm>
          <a:prstGeom prst="rect">
            <a:avLst/>
          </a:prstGeom>
          <a:solidFill>
            <a:srgbClr val="D6D7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50673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270000" y="441325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2000" y="433705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100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70000" y="36830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2000" y="36068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200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270000" y="295275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2000" y="287655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300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270000" y="22225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2000" y="21463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400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10783" y="4267200"/>
            <a:ext cx="469900" cy="876300"/>
          </a:xfrm>
          <a:prstGeom prst="roundRect">
            <a:avLst>
              <a:gd name="adj" fmla="val 5405"/>
            </a:avLst>
          </a:prstGeom>
          <a:solidFill>
            <a:srgbClr val="0D4EF2"/>
          </a:solidFill>
          <a:ln/>
        </p:spPr>
      </p:sp>
      <p:sp>
        <p:nvSpPr>
          <p:cNvPr id="15" name="Shape 13"/>
          <p:cNvSpPr/>
          <p:nvPr/>
        </p:nvSpPr>
        <p:spPr>
          <a:xfrm>
            <a:off x="1610783" y="5105400"/>
            <a:ext cx="469900" cy="381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16" name="Shape 14"/>
          <p:cNvSpPr/>
          <p:nvPr/>
        </p:nvSpPr>
        <p:spPr>
          <a:xfrm>
            <a:off x="2131483" y="4559300"/>
            <a:ext cx="469900" cy="584200"/>
          </a:xfrm>
          <a:prstGeom prst="roundRect">
            <a:avLst>
              <a:gd name="adj" fmla="val 5405"/>
            </a:avLst>
          </a:prstGeom>
          <a:solidFill>
            <a:srgbClr val="A3BC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131483" y="5105400"/>
            <a:ext cx="469900" cy="38100"/>
          </a:xfrm>
          <a:prstGeom prst="rect">
            <a:avLst/>
          </a:prstGeom>
          <a:solidFill>
            <a:srgbClr val="A3BC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98083" y="5245100"/>
            <a:ext cx="10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Q1 '25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82950" y="3829050"/>
            <a:ext cx="469900" cy="1314450"/>
          </a:xfrm>
          <a:prstGeom prst="roundRect">
            <a:avLst>
              <a:gd name="adj" fmla="val 5405"/>
            </a:avLst>
          </a:prstGeom>
          <a:solidFill>
            <a:srgbClr val="0D4EF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82950" y="5105400"/>
            <a:ext cx="469900" cy="381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803650" y="4194175"/>
            <a:ext cx="469900" cy="949325"/>
          </a:xfrm>
          <a:prstGeom prst="roundRect">
            <a:avLst>
              <a:gd name="adj" fmla="val 5405"/>
            </a:avLst>
          </a:prstGeom>
          <a:solidFill>
            <a:srgbClr val="A3BCFA"/>
          </a:solidFill>
          <a:ln/>
        </p:spPr>
      </p:sp>
      <p:sp>
        <p:nvSpPr>
          <p:cNvPr id="22" name="Shape 20"/>
          <p:cNvSpPr/>
          <p:nvPr/>
        </p:nvSpPr>
        <p:spPr>
          <a:xfrm>
            <a:off x="3803650" y="5105400"/>
            <a:ext cx="469900" cy="38100"/>
          </a:xfrm>
          <a:prstGeom prst="rect">
            <a:avLst/>
          </a:prstGeom>
          <a:solidFill>
            <a:srgbClr val="A3BC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70250" y="5245100"/>
            <a:ext cx="10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Q2 '25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955117" y="3609975"/>
            <a:ext cx="469900" cy="1533525"/>
          </a:xfrm>
          <a:prstGeom prst="roundRect">
            <a:avLst>
              <a:gd name="adj" fmla="val 5405"/>
            </a:avLst>
          </a:prstGeom>
          <a:solidFill>
            <a:srgbClr val="0D4E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955117" y="5105400"/>
            <a:ext cx="469900" cy="381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26" name="Shape 24"/>
          <p:cNvSpPr/>
          <p:nvPr/>
        </p:nvSpPr>
        <p:spPr>
          <a:xfrm>
            <a:off x="5475817" y="3902075"/>
            <a:ext cx="469900" cy="1241425"/>
          </a:xfrm>
          <a:prstGeom prst="roundRect">
            <a:avLst>
              <a:gd name="adj" fmla="val 5405"/>
            </a:avLst>
          </a:prstGeom>
          <a:solidFill>
            <a:srgbClr val="A3BCFA"/>
          </a:solidFill>
          <a:ln/>
        </p:spPr>
      </p:sp>
      <p:sp>
        <p:nvSpPr>
          <p:cNvPr id="27" name="Shape 25"/>
          <p:cNvSpPr/>
          <p:nvPr/>
        </p:nvSpPr>
        <p:spPr>
          <a:xfrm>
            <a:off x="5475817" y="5105400"/>
            <a:ext cx="469900" cy="38100"/>
          </a:xfrm>
          <a:prstGeom prst="rect">
            <a:avLst/>
          </a:prstGeom>
          <a:solidFill>
            <a:srgbClr val="A3BC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42417" y="5245100"/>
            <a:ext cx="10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Q3 '25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627283" y="3244850"/>
            <a:ext cx="469900" cy="1898650"/>
          </a:xfrm>
          <a:prstGeom prst="roundRect">
            <a:avLst>
              <a:gd name="adj" fmla="val 5405"/>
            </a:avLst>
          </a:prstGeom>
          <a:solidFill>
            <a:srgbClr val="0D4E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627283" y="5105400"/>
            <a:ext cx="469900" cy="381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147983" y="3609975"/>
            <a:ext cx="469900" cy="1533525"/>
          </a:xfrm>
          <a:prstGeom prst="roundRect">
            <a:avLst>
              <a:gd name="adj" fmla="val 5405"/>
            </a:avLst>
          </a:prstGeom>
          <a:solidFill>
            <a:srgbClr val="A3BCFA"/>
          </a:solidFill>
          <a:ln/>
        </p:spPr>
      </p:sp>
      <p:sp>
        <p:nvSpPr>
          <p:cNvPr id="32" name="Shape 30"/>
          <p:cNvSpPr/>
          <p:nvPr/>
        </p:nvSpPr>
        <p:spPr>
          <a:xfrm>
            <a:off x="7147983" y="5105400"/>
            <a:ext cx="469900" cy="38100"/>
          </a:xfrm>
          <a:prstGeom prst="rect">
            <a:avLst/>
          </a:prstGeom>
          <a:solidFill>
            <a:srgbClr val="A3BC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14583" y="5245100"/>
            <a:ext cx="10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Q4 '25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299450" y="2952750"/>
            <a:ext cx="469900" cy="2190750"/>
          </a:xfrm>
          <a:prstGeom prst="roundRect">
            <a:avLst>
              <a:gd name="adj" fmla="val 5405"/>
            </a:avLst>
          </a:prstGeom>
          <a:solidFill>
            <a:srgbClr val="0D4EF2"/>
          </a:solidFill>
          <a:ln/>
        </p:spPr>
      </p:sp>
      <p:sp>
        <p:nvSpPr>
          <p:cNvPr id="35" name="Shape 33"/>
          <p:cNvSpPr/>
          <p:nvPr/>
        </p:nvSpPr>
        <p:spPr>
          <a:xfrm>
            <a:off x="8299450" y="5105400"/>
            <a:ext cx="469900" cy="381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36" name="Shape 34"/>
          <p:cNvSpPr/>
          <p:nvPr/>
        </p:nvSpPr>
        <p:spPr>
          <a:xfrm>
            <a:off x="8820150" y="3317875"/>
            <a:ext cx="469900" cy="1825625"/>
          </a:xfrm>
          <a:prstGeom prst="roundRect">
            <a:avLst>
              <a:gd name="adj" fmla="val 5405"/>
            </a:avLst>
          </a:prstGeom>
          <a:solidFill>
            <a:srgbClr val="A3BC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820150" y="5105400"/>
            <a:ext cx="469900" cy="38100"/>
          </a:xfrm>
          <a:prstGeom prst="rect">
            <a:avLst/>
          </a:prstGeom>
          <a:solidFill>
            <a:srgbClr val="A3BC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86750" y="5245100"/>
            <a:ext cx="10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Q1 '26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971617" y="2514600"/>
            <a:ext cx="469900" cy="2628900"/>
          </a:xfrm>
          <a:prstGeom prst="roundRect">
            <a:avLst>
              <a:gd name="adj" fmla="val 5405"/>
            </a:avLst>
          </a:prstGeom>
          <a:solidFill>
            <a:srgbClr val="0D4EF2"/>
          </a:solidFill>
          <a:ln/>
        </p:spPr>
      </p:sp>
      <p:sp>
        <p:nvSpPr>
          <p:cNvPr id="40" name="Shape 38"/>
          <p:cNvSpPr/>
          <p:nvPr/>
        </p:nvSpPr>
        <p:spPr>
          <a:xfrm>
            <a:off x="9971617" y="5105400"/>
            <a:ext cx="469900" cy="381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92317" y="2879725"/>
            <a:ext cx="469900" cy="2263775"/>
          </a:xfrm>
          <a:prstGeom prst="roundRect">
            <a:avLst>
              <a:gd name="adj" fmla="val 5405"/>
            </a:avLst>
          </a:prstGeom>
          <a:solidFill>
            <a:srgbClr val="A3BCF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92317" y="5105400"/>
            <a:ext cx="469900" cy="38100"/>
          </a:xfrm>
          <a:prstGeom prst="rect">
            <a:avLst/>
          </a:prstGeom>
          <a:solidFill>
            <a:srgbClr val="A3BCF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958917" y="5245100"/>
            <a:ext cx="101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Q2 '26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270000" y="55626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0D4EF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447800" y="5537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272C"/>
                </a:solidFill>
              </a:rPr>
              <a:t>Apps built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67000" y="55626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A3BC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844800" y="5537200"/>
            <a:ext cx="165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272C"/>
                </a:solidFill>
              </a:rPr>
              <a:t>Apps in production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ADOPTION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Where teams use Creator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16000" y="2095500"/>
          <a:ext cx="3937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968500" y="3556000"/>
            <a:ext cx="2032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272C"/>
                </a:solidFill>
              </a:rPr>
              <a:t>5,200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968500" y="3949700"/>
            <a:ext cx="203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apps live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223000" y="27813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0D4E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02400" y="2730500"/>
            <a:ext cx="317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906000" y="27305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5C60"/>
                </a:solidFill>
              </a:rPr>
              <a:t>38%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23000" y="3086100"/>
            <a:ext cx="520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Shape 8"/>
          <p:cNvSpPr/>
          <p:nvPr/>
        </p:nvSpPr>
        <p:spPr>
          <a:xfrm>
            <a:off x="6223000" y="32893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A3BC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02400" y="3238500"/>
            <a:ext cx="317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Finance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906000" y="32385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5C60"/>
                </a:solidFill>
              </a:rPr>
              <a:t>24%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23000" y="3594100"/>
            <a:ext cx="520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5" name="Shape 12"/>
          <p:cNvSpPr/>
          <p:nvPr/>
        </p:nvSpPr>
        <p:spPr>
          <a:xfrm>
            <a:off x="6223000" y="37973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ED70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02400" y="3746500"/>
            <a:ext cx="317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HR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906000" y="37465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5C60"/>
                </a:solidFill>
              </a:rPr>
              <a:t>18%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23000" y="4102100"/>
            <a:ext cx="520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9" name="Shape 16"/>
          <p:cNvSpPr/>
          <p:nvPr/>
        </p:nvSpPr>
        <p:spPr>
          <a:xfrm>
            <a:off x="6223000" y="43053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07884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02400" y="4254500"/>
            <a:ext cx="317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IT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906000" y="42545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5C60"/>
                </a:solidFill>
              </a:rPr>
              <a:t>12%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23000" y="4610100"/>
            <a:ext cx="520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3" name="Shape 20"/>
          <p:cNvSpPr/>
          <p:nvPr/>
        </p:nvSpPr>
        <p:spPr>
          <a:xfrm>
            <a:off x="6223000" y="48133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8F919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02400" y="4762500"/>
            <a:ext cx="317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Other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906000" y="47625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5C60"/>
                </a:solidFill>
              </a:rPr>
              <a:t>8%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23000" y="5118100"/>
            <a:ext cx="520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MEET THE TEAM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62000" y="1079500"/>
            <a:ext cx="1066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272C"/>
                </a:solidFill>
              </a:rPr>
              <a:t>The team</a:t>
            </a:r>
            <a:endParaRPr lang="en-US" sz="3600" dirty="0"/>
          </a:p>
        </p:txBody>
      </p:sp>
      <p:pic>
        <p:nvPicPr>
          <p:cNvPr id="4" name="Photo (replace)" descr="img/frame_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0" y="2222500"/>
            <a:ext cx="1778000" cy="177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4152900"/>
            <a:ext cx="228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Full Name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44323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4EF2"/>
                </a:solidFill>
              </a:rPr>
              <a:t>Role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46355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Company</a:t>
            </a:r>
            <a:endParaRPr lang="en-US" sz="1200" dirty="0"/>
          </a:p>
        </p:txBody>
      </p:sp>
      <p:pic>
        <p:nvPicPr>
          <p:cNvPr id="8" name="Photo (replace)" descr="img/frame_wom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2222500"/>
            <a:ext cx="1778000" cy="1778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83000" y="4152900"/>
            <a:ext cx="228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Full Name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683000" y="44323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4EF2"/>
                </a:solidFill>
              </a:rPr>
              <a:t>Role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683000" y="46355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Company</a:t>
            </a:r>
            <a:endParaRPr lang="en-US" sz="1200" dirty="0"/>
          </a:p>
        </p:txBody>
      </p:sp>
      <p:pic>
        <p:nvPicPr>
          <p:cNvPr id="12" name="Photo (replace)" descr="img/frame_m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222500"/>
            <a:ext cx="1778000" cy="1778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23000" y="4152900"/>
            <a:ext cx="228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Full Name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223000" y="44323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4EF2"/>
                </a:solidFill>
              </a:rPr>
              <a:t>Role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223000" y="46355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Company</a:t>
            </a:r>
            <a:endParaRPr lang="en-US" sz="1200" dirty="0"/>
          </a:p>
        </p:txBody>
      </p:sp>
      <p:pic>
        <p:nvPicPr>
          <p:cNvPr id="16" name="Photo (replace)" descr="img/frame_wom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2222500"/>
            <a:ext cx="1778000" cy="17780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63000" y="4152900"/>
            <a:ext cx="228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Full Name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763000" y="44323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4EF2"/>
                </a:solidFill>
              </a:rPr>
              <a:t>Role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763000" y="46355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Company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(replace)" descr="img/testimonial_cut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" y="1639434"/>
            <a:ext cx="3683000" cy="42025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1079500"/>
            <a:ext cx="1174750" cy="190500"/>
          </a:xfrm>
          <a:prstGeom prst="roundRect">
            <a:avLst>
              <a:gd name="adj" fmla="val 13333"/>
            </a:avLst>
          </a:prstGeom>
          <a:solidFill>
            <a:srgbClr val="0D4E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715000" y="1079500"/>
            <a:ext cx="1174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CUSTOMER STORY</a:t>
            </a:r>
            <a:endParaRPr lang="en-US" sz="700" dirty="0"/>
          </a:p>
        </p:txBody>
      </p:sp>
      <p:sp>
        <p:nvSpPr>
          <p:cNvPr id="5" name="Text 2"/>
          <p:cNvSpPr txBox="1"/>
          <p:nvPr/>
        </p:nvSpPr>
        <p:spPr>
          <a:xfrm>
            <a:off x="5715000" y="1397000"/>
            <a:ext cx="76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4EF2"/>
                </a:solidFill>
              </a:rPr>
              <a:t>“</a:t>
            </a:r>
            <a:endParaRPr lang="en-US" sz="4000" dirty="0"/>
          </a:p>
        </p:txBody>
      </p:sp>
      <p:sp>
        <p:nvSpPr>
          <p:cNvPr id="6" name="Quote"/>
          <p:cNvSpPr txBox="1"/>
          <p:nvPr/>
        </p:nvSpPr>
        <p:spPr>
          <a:xfrm>
            <a:off x="5715000" y="1968500"/>
            <a:ext cx="5715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A short customer quote that captures the impact in their own words.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37465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Full Name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39497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Designation, Company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0" y="4508500"/>
            <a:ext cx="1803400" cy="1016000"/>
          </a:xfrm>
          <a:prstGeom prst="roundRect">
            <a:avLst>
              <a:gd name="adj" fmla="val 5000"/>
            </a:avLst>
          </a:prstGeom>
          <a:solidFill>
            <a:srgbClr val="F5F8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92800" y="4660900"/>
            <a:ext cx="14478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EF2"/>
                </a:solidFill>
              </a:rPr>
              <a:t>60%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892800" y="5143500"/>
            <a:ext cx="1447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faster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70800" y="4508500"/>
            <a:ext cx="1803400" cy="1016000"/>
          </a:xfrm>
          <a:prstGeom prst="roundRect">
            <a:avLst>
              <a:gd name="adj" fmla="val 5000"/>
            </a:avLst>
          </a:prstGeom>
          <a:solidFill>
            <a:srgbClr val="F6FE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48600" y="4660900"/>
            <a:ext cx="14478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8841"/>
                </a:solidFill>
              </a:rPr>
              <a:t>3×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848600" y="5143500"/>
            <a:ext cx="1447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productivity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26600" y="4508500"/>
            <a:ext cx="1803400" cy="1016000"/>
          </a:xfrm>
          <a:prstGeom prst="roundRect">
            <a:avLst>
              <a:gd name="adj" fmla="val 5000"/>
            </a:avLst>
          </a:prstGeom>
          <a:solidFill>
            <a:srgbClr val="FFFD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804400" y="4660900"/>
            <a:ext cx="14478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41644"/>
                </a:solidFill>
              </a:rPr>
              <a:t>15+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9804400" y="5143500"/>
            <a:ext cx="1447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countries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Customer logo (replace)"/>
          <p:cNvSpPr/>
          <p:nvPr/>
        </p:nvSpPr>
        <p:spPr>
          <a:xfrm>
            <a:off x="762000" y="609600"/>
            <a:ext cx="1397000" cy="762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901700"/>
            <a:ext cx="1397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9193"/>
                </a:solidFill>
              </a:rPr>
              <a:t>Customer logo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222500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OWNERSHIP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3876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IT · Big data and procurement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2857500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ZOHO ECOSYSTEM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30226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Creator, Projects, Analytics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3492500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REGION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36576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MEA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4127500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VERTICAL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" y="42926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Telecom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4762500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SCALE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762000" y="49276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One app, many teams across regions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825500"/>
            <a:ext cx="895350" cy="190500"/>
          </a:xfrm>
          <a:prstGeom prst="roundRect">
            <a:avLst>
              <a:gd name="adj" fmla="val 13333"/>
            </a:avLst>
          </a:prstGeom>
          <a:solidFill>
            <a:srgbClr val="0D4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825500"/>
            <a:ext cx="8953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CASE STUDY</a:t>
            </a:r>
            <a:endParaRPr lang="en-US" sz="700" dirty="0"/>
          </a:p>
        </p:txBody>
      </p:sp>
      <p:sp>
        <p:nvSpPr>
          <p:cNvPr id="17" name="Title"/>
          <p:cNvSpPr txBox="1"/>
          <p:nvPr/>
        </p:nvSpPr>
        <p:spPr>
          <a:xfrm>
            <a:off x="4572000" y="11303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72C"/>
                </a:solidFill>
              </a:rPr>
              <a:t>Customer case study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572000" y="2120900"/>
            <a:ext cx="38100" cy="228600"/>
          </a:xfrm>
          <a:prstGeom prst="roundRect">
            <a:avLst>
              <a:gd name="adj" fmla="val 50000"/>
            </a:avLst>
          </a:prstGeom>
          <a:solidFill>
            <a:srgbClr val="0D4E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24400" y="2095500"/>
            <a:ext cx="381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4EF2"/>
                </a:solidFill>
              </a:rPr>
              <a:t>Objective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724400" y="2476500"/>
            <a:ext cx="66675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Streamline procurement by bringing data from different departments into one source of truth.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111500"/>
            <a:ext cx="38100" cy="228600"/>
          </a:xfrm>
          <a:prstGeom prst="roundRect">
            <a:avLst>
              <a:gd name="adj" fmla="val 50000"/>
            </a:avLst>
          </a:prstGeom>
          <a:solidFill>
            <a:srgbClr val="0788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24400" y="3086100"/>
            <a:ext cx="381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8841"/>
                </a:solidFill>
              </a:rPr>
              <a:t>Solution</a:t>
            </a:r>
            <a:endParaRPr lang="en-US" sz="2000" dirty="0"/>
          </a:p>
        </p:txBody>
      </p:sp>
      <p:pic>
        <p:nvPicPr>
          <p:cNvPr id="23" name="Image 0" descr="img/ic_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3467100"/>
            <a:ext cx="177800" cy="1778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978400" y="34671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First thing built or solved</a:t>
            </a:r>
            <a:endParaRPr lang="en-US" sz="1200" dirty="0"/>
          </a:p>
        </p:txBody>
      </p:sp>
      <p:pic>
        <p:nvPicPr>
          <p:cNvPr id="25" name="Image 1" descr="img/ic_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721100"/>
            <a:ext cx="177800" cy="1778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978400" y="37211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Second capability delivered</a:t>
            </a:r>
            <a:endParaRPr lang="en-US" sz="1200" dirty="0"/>
          </a:p>
        </p:txBody>
      </p:sp>
      <p:pic>
        <p:nvPicPr>
          <p:cNvPr id="27" name="Image 2" descr="img/ic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975100"/>
            <a:ext cx="177800" cy="1778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978400" y="39751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Third capability delivered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572000" y="4406900"/>
            <a:ext cx="38100" cy="228600"/>
          </a:xfrm>
          <a:prstGeom prst="roundRect">
            <a:avLst>
              <a:gd name="adj" fmla="val 50000"/>
            </a:avLst>
          </a:prstGeom>
          <a:solidFill>
            <a:srgbClr val="04164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724400" y="4381500"/>
            <a:ext cx="381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41644"/>
                </a:solidFill>
              </a:rPr>
              <a:t>Highlights</a:t>
            </a:r>
            <a:endParaRPr lang="en-US" sz="2000" dirty="0"/>
          </a:p>
        </p:txBody>
      </p:sp>
      <p:pic>
        <p:nvPicPr>
          <p:cNvPr id="31" name="Image 3" descr="img/ic_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4762500"/>
            <a:ext cx="177800" cy="1778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978400" y="47625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Improved productivity</a:t>
            </a:r>
            <a:endParaRPr lang="en-US" sz="1200" dirty="0"/>
          </a:p>
        </p:txBody>
      </p:sp>
      <p:pic>
        <p:nvPicPr>
          <p:cNvPr id="33" name="Image 4" descr="img/ic_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5016500"/>
            <a:ext cx="177800" cy="1778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978400" y="50165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Removed information silos</a:t>
            </a:r>
            <a:endParaRPr lang="en-US" sz="1200" dirty="0"/>
          </a:p>
        </p:txBody>
      </p:sp>
      <p:pic>
        <p:nvPicPr>
          <p:cNvPr id="35" name="Image 5" descr="img/ic_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5270500"/>
            <a:ext cx="177800" cy="1778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978400" y="52705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Real-time decision-making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06 / TRUSTED BY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Thousands of companies. Every industry.</a:t>
            </a:r>
            <a:endParaRPr lang="en-US" sz="3600" dirty="0"/>
          </a:p>
        </p:txBody>
      </p:sp>
      <p:sp>
        <p:nvSpPr>
          <p:cNvPr id="4" name="Customer logo (sample: replace)"/>
          <p:cNvSpPr/>
          <p:nvPr/>
        </p:nvSpPr>
        <p:spPr>
          <a:xfrm>
            <a:off x="762000" y="2349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0500" y="270510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8F91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14500" y="2679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Northwind</a:t>
            </a:r>
            <a:endParaRPr lang="en-US" sz="1400" dirty="0"/>
          </a:p>
        </p:txBody>
      </p:sp>
      <p:sp>
        <p:nvSpPr>
          <p:cNvPr id="7" name="Customer logo (sample: replace)"/>
          <p:cNvSpPr/>
          <p:nvPr/>
        </p:nvSpPr>
        <p:spPr>
          <a:xfrm>
            <a:off x="3429000" y="2349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27500" y="27051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8F91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1500" y="2679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Lumen Pay</a:t>
            </a:r>
            <a:endParaRPr lang="en-US" sz="1400" dirty="0"/>
          </a:p>
        </p:txBody>
      </p:sp>
      <p:sp>
        <p:nvSpPr>
          <p:cNvPr id="10" name="Customer logo (sample: replace)"/>
          <p:cNvSpPr/>
          <p:nvPr/>
        </p:nvSpPr>
        <p:spPr>
          <a:xfrm>
            <a:off x="6096000" y="2349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4500" y="270510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8F91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8500" y="2679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Bluepeak</a:t>
            </a:r>
            <a:endParaRPr lang="en-US" sz="1400" dirty="0"/>
          </a:p>
        </p:txBody>
      </p:sp>
      <p:sp>
        <p:nvSpPr>
          <p:cNvPr id="13" name="Customer logo (sample: replace)"/>
          <p:cNvSpPr/>
          <p:nvPr/>
        </p:nvSpPr>
        <p:spPr>
          <a:xfrm>
            <a:off x="8763000" y="2349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1500" y="27051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8F91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15500" y="2679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Orbit Retail</a:t>
            </a:r>
            <a:endParaRPr lang="en-US" sz="1400" dirty="0"/>
          </a:p>
        </p:txBody>
      </p:sp>
      <p:sp>
        <p:nvSpPr>
          <p:cNvPr id="16" name="Customer logo (sample: replace)"/>
          <p:cNvSpPr/>
          <p:nvPr/>
        </p:nvSpPr>
        <p:spPr>
          <a:xfrm>
            <a:off x="762000" y="3238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0500" y="359410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8F91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14500" y="3568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Fieldline</a:t>
            </a:r>
            <a:endParaRPr lang="en-US" sz="1400" dirty="0"/>
          </a:p>
        </p:txBody>
      </p:sp>
      <p:sp>
        <p:nvSpPr>
          <p:cNvPr id="19" name="Customer logo (sample: replace)"/>
          <p:cNvSpPr/>
          <p:nvPr/>
        </p:nvSpPr>
        <p:spPr>
          <a:xfrm>
            <a:off x="3429000" y="3238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7500" y="35941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8F91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81500" y="3568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Harbor Health</a:t>
            </a:r>
            <a:endParaRPr lang="en-US" sz="1400" dirty="0"/>
          </a:p>
        </p:txBody>
      </p:sp>
      <p:sp>
        <p:nvSpPr>
          <p:cNvPr id="22" name="Customer logo (sample: replace)"/>
          <p:cNvSpPr/>
          <p:nvPr/>
        </p:nvSpPr>
        <p:spPr>
          <a:xfrm>
            <a:off x="6096000" y="3238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4500" y="3594100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8F91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8500" y="3568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Northstar</a:t>
            </a:r>
            <a:endParaRPr lang="en-US" sz="1400" dirty="0"/>
          </a:p>
        </p:txBody>
      </p:sp>
      <p:sp>
        <p:nvSpPr>
          <p:cNvPr id="25" name="Customer logo (sample: replace)"/>
          <p:cNvSpPr/>
          <p:nvPr/>
        </p:nvSpPr>
        <p:spPr>
          <a:xfrm>
            <a:off x="8763000" y="3238500"/>
            <a:ext cx="2667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1500" y="359410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8F91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15500" y="3568700"/>
            <a:ext cx="1524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D71"/>
                </a:solidFill>
              </a:rPr>
              <a:t>Acme Co.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4381500"/>
            <a:ext cx="10668000" cy="609600"/>
          </a:xfrm>
          <a:prstGeom prst="roundRect">
            <a:avLst>
              <a:gd name="adj" fmla="val 8333"/>
            </a:avLst>
          </a:prstGeom>
          <a:solidFill>
            <a:srgbClr val="F5F8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16000" y="45974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“A short quote from a customer about what they built and how fast.” — Role, Company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PLANS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Pick the plan that fits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3384550" cy="330200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6000" y="2425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Standard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705100"/>
            <a:ext cx="28765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For small teams getting started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3035300"/>
            <a:ext cx="2876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72C"/>
                </a:solidFill>
              </a:rPr>
              <a:t>$8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016000" y="3568700"/>
            <a:ext cx="28765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/ user / month</a:t>
            </a:r>
            <a:endParaRPr lang="en-US" sz="800" dirty="0"/>
          </a:p>
        </p:txBody>
      </p:sp>
      <p:pic>
        <p:nvPicPr>
          <p:cNvPr id="9" name="Image 0" descr="img/ic_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3937000"/>
            <a:ext cx="152400" cy="152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44600" y="39370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Unlimited apps</a:t>
            </a:r>
            <a:endParaRPr lang="en-US" sz="1200" dirty="0"/>
          </a:p>
        </p:txBody>
      </p:sp>
      <p:pic>
        <p:nvPicPr>
          <p:cNvPr id="11" name="Image 1" descr="img/ic_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4216400"/>
            <a:ext cx="152400" cy="152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44600" y="42164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Workflows and approvals</a:t>
            </a:r>
            <a:endParaRPr lang="en-US" sz="1200" dirty="0"/>
          </a:p>
        </p:txBody>
      </p:sp>
      <p:pic>
        <p:nvPicPr>
          <p:cNvPr id="13" name="Image 2" descr="img/ic_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495800"/>
            <a:ext cx="152400" cy="152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44600" y="44958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Mobile apps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016000" y="5016500"/>
            <a:ext cx="1384300" cy="355600"/>
          </a:xfrm>
          <a:prstGeom prst="roundRect">
            <a:avLst>
              <a:gd name="adj" fmla="val 7143"/>
            </a:avLst>
          </a:prstGeom>
          <a:ln w="19050">
            <a:solidFill>
              <a:srgbClr val="0D4EF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016000" y="5016500"/>
            <a:ext cx="13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EF2"/>
                </a:solidFill>
              </a:rPr>
              <a:t>Start free trial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400550" y="2222500"/>
            <a:ext cx="3384550" cy="3302000"/>
          </a:xfrm>
          <a:prstGeom prst="roundRect">
            <a:avLst>
              <a:gd name="adj" fmla="val 1538"/>
            </a:avLst>
          </a:prstGeom>
          <a:solidFill>
            <a:srgbClr val="F5F8FE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78600" y="2374900"/>
            <a:ext cx="914400" cy="177800"/>
          </a:xfrm>
          <a:prstGeom prst="roundRect">
            <a:avLst>
              <a:gd name="adj" fmla="val 14286"/>
            </a:avLst>
          </a:prstGeom>
          <a:solidFill>
            <a:srgbClr val="0D4EF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78600" y="2374900"/>
            <a:ext cx="914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FFFFFF"/>
                </a:solidFill>
              </a:rPr>
              <a:t>MOST POPULAR</a:t>
            </a:r>
            <a:endParaRPr lang="en-US" sz="600" dirty="0"/>
          </a:p>
        </p:txBody>
      </p:sp>
      <p:sp>
        <p:nvSpPr>
          <p:cNvPr id="20" name="Text 15"/>
          <p:cNvSpPr txBox="1"/>
          <p:nvPr/>
        </p:nvSpPr>
        <p:spPr>
          <a:xfrm>
            <a:off x="4654550" y="2425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654550" y="2705100"/>
            <a:ext cx="28765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For growing teams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4654550" y="3035300"/>
            <a:ext cx="2876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4EF2"/>
                </a:solidFill>
              </a:rPr>
              <a:t>$20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4654550" y="3568700"/>
            <a:ext cx="28765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/ user / month</a:t>
            </a:r>
            <a:endParaRPr lang="en-US" sz="800" dirty="0"/>
          </a:p>
        </p:txBody>
      </p:sp>
      <p:pic>
        <p:nvPicPr>
          <p:cNvPr id="24" name="Image 3" descr="img/ic_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550" y="3937000"/>
            <a:ext cx="152400" cy="1524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883150" y="39370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Unlimited apps</a:t>
            </a:r>
            <a:endParaRPr lang="en-US" sz="1200" dirty="0"/>
          </a:p>
        </p:txBody>
      </p:sp>
      <p:pic>
        <p:nvPicPr>
          <p:cNvPr id="26" name="Image 4" descr="img/ic_Che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550" y="4216400"/>
            <a:ext cx="152400" cy="1524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83150" y="42164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Workflows and approvals</a:t>
            </a:r>
            <a:endParaRPr lang="en-US" sz="1200" dirty="0"/>
          </a:p>
        </p:txBody>
      </p:sp>
      <p:pic>
        <p:nvPicPr>
          <p:cNvPr id="28" name="Image 5" descr="img/ic_Chec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550" y="4495800"/>
            <a:ext cx="152400" cy="1524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883150" y="44958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Mobile apps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654550" y="5016500"/>
            <a:ext cx="1384300" cy="355600"/>
          </a:xfrm>
          <a:prstGeom prst="roundRect">
            <a:avLst>
              <a:gd name="adj" fmla="val 7143"/>
            </a:avLst>
          </a:prstGeom>
          <a:solidFill>
            <a:srgbClr val="E81D17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4654550" y="5016500"/>
            <a:ext cx="13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Start free trial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8039100" y="2222500"/>
            <a:ext cx="3384550" cy="330200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8293100" y="2425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293100" y="2705100"/>
            <a:ext cx="28765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For large organisations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8293100" y="3035300"/>
            <a:ext cx="2876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72C"/>
                </a:solidFill>
              </a:rPr>
              <a:t>Custom</a:t>
            </a:r>
            <a:endParaRPr lang="en-US" sz="3600" dirty="0"/>
          </a:p>
        </p:txBody>
      </p:sp>
      <p:sp>
        <p:nvSpPr>
          <p:cNvPr id="36" name="Text 28"/>
          <p:cNvSpPr txBox="1"/>
          <p:nvPr/>
        </p:nvSpPr>
        <p:spPr>
          <a:xfrm>
            <a:off x="8293100" y="3568700"/>
            <a:ext cx="28765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Talk to sales</a:t>
            </a:r>
            <a:endParaRPr lang="en-US" sz="800" dirty="0"/>
          </a:p>
        </p:txBody>
      </p:sp>
      <p:pic>
        <p:nvPicPr>
          <p:cNvPr id="37" name="Image 6" descr="img/ic_Check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100" y="3937000"/>
            <a:ext cx="152400" cy="1524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521700" y="39370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Unlimited apps</a:t>
            </a:r>
            <a:endParaRPr lang="en-US" sz="1200" dirty="0"/>
          </a:p>
        </p:txBody>
      </p:sp>
      <p:pic>
        <p:nvPicPr>
          <p:cNvPr id="39" name="Image 7" descr="img/ic_Check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100" y="4216400"/>
            <a:ext cx="152400" cy="1524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521700" y="42164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Workflows and approvals</a:t>
            </a:r>
            <a:endParaRPr lang="en-US" sz="1200" dirty="0"/>
          </a:p>
        </p:txBody>
      </p:sp>
      <p:pic>
        <p:nvPicPr>
          <p:cNvPr id="41" name="Image 8" descr="img/ic_Check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3100" y="4495800"/>
            <a:ext cx="152400" cy="1524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521700" y="4495800"/>
            <a:ext cx="26225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Mobile apps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8293100" y="5016500"/>
            <a:ext cx="1200150" cy="355600"/>
          </a:xfrm>
          <a:prstGeom prst="roundRect">
            <a:avLst>
              <a:gd name="adj" fmla="val 7143"/>
            </a:avLst>
          </a:prstGeom>
          <a:ln w="19050">
            <a:solidFill>
              <a:srgbClr val="0D4EF2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8293100" y="5016500"/>
            <a:ext cx="12001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EF2"/>
                </a:solidFill>
              </a:rPr>
              <a:t>Contact sales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g/grad_brand_dep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oter logo" descr="img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4" name="Footer URL"/>
          <p:cNvSpPr txBox="1"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E6FD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762000" y="1460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ED70B"/>
                </a:solidFill>
              </a:rPr>
              <a:t>LIVE DEMO</a:t>
            </a:r>
            <a:endParaRPr lang="en-US" sz="1000" dirty="0"/>
          </a:p>
        </p:txBody>
      </p:sp>
      <p:sp>
        <p:nvSpPr>
          <p:cNvPr id="6" name="Title"/>
          <p:cNvSpPr txBox="1"/>
          <p:nvPr/>
        </p:nvSpPr>
        <p:spPr>
          <a:xfrm>
            <a:off x="762000" y="1714500"/>
            <a:ext cx="4826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Build a safer workplace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762000" y="31115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EDFE"/>
                </a:solidFill>
              </a:rPr>
              <a:t>A short line on what you’ll show in the demo.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62000" y="3619500"/>
            <a:ext cx="1504950" cy="406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62000" y="3619500"/>
            <a:ext cx="150495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EF2"/>
                </a:solidFill>
              </a:rPr>
              <a:t>Book a walkthrough</a:t>
            </a:r>
            <a:endParaRPr lang="en-US" sz="800" dirty="0"/>
          </a:p>
        </p:txBody>
      </p:sp>
      <p:sp>
        <p:nvSpPr>
          <p:cNvPr id="10" name="Product screenshot (replace)"/>
          <p:cNvSpPr/>
          <p:nvPr/>
        </p:nvSpPr>
        <p:spPr>
          <a:xfrm>
            <a:off x="6985000" y="609600"/>
            <a:ext cx="4445000" cy="56388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239000" y="863600"/>
            <a:ext cx="3810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My approvals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239000" y="1752600"/>
            <a:ext cx="393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39000" y="14478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PO-2381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0414000" y="1435100"/>
            <a:ext cx="622300" cy="177800"/>
          </a:xfrm>
          <a:prstGeom prst="roundRect">
            <a:avLst>
              <a:gd name="adj" fmla="val 14286"/>
            </a:avLst>
          </a:prstGeom>
          <a:solidFill>
            <a:srgbClr val="FFFAD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0414000" y="1435100"/>
            <a:ext cx="6223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25272C"/>
                </a:solidFill>
              </a:rPr>
              <a:t>PENDING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7239000" y="2209800"/>
            <a:ext cx="393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239000" y="19050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PO-2380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0414000" y="189230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0414000" y="189230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7239000" y="2667000"/>
            <a:ext cx="393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39000" y="23622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PO-2379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10414000" y="2349500"/>
            <a:ext cx="736600" cy="177800"/>
          </a:xfrm>
          <a:prstGeom prst="roundRect">
            <a:avLst>
              <a:gd name="adj" fmla="val 14286"/>
            </a:avLst>
          </a:prstGeom>
          <a:solidFill>
            <a:srgbClr val="E7EDF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0414000" y="2349500"/>
            <a:ext cx="736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A3BB8"/>
                </a:solidFill>
              </a:rPr>
              <a:t>IN REVIEW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7239000" y="3124200"/>
            <a:ext cx="393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39000" y="2819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PO-2378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0414000" y="280670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414000" y="280670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28" name="Shape 24"/>
          <p:cNvSpPr/>
          <p:nvPr/>
        </p:nvSpPr>
        <p:spPr>
          <a:xfrm>
            <a:off x="7239000" y="3581400"/>
            <a:ext cx="393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239000" y="32766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PO-2377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10414000" y="3263900"/>
            <a:ext cx="622300" cy="177800"/>
          </a:xfrm>
          <a:prstGeom prst="roundRect">
            <a:avLst>
              <a:gd name="adj" fmla="val 14286"/>
            </a:avLst>
          </a:prstGeom>
          <a:solidFill>
            <a:srgbClr val="FFFADE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10414000" y="3263900"/>
            <a:ext cx="6223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25272C"/>
                </a:solidFill>
              </a:rPr>
              <a:t>PENDING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7239000" y="4038600"/>
            <a:ext cx="393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239000" y="37338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PO-2376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0414000" y="372110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0414000" y="372110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36" name="Shape 32"/>
          <p:cNvSpPr/>
          <p:nvPr/>
        </p:nvSpPr>
        <p:spPr>
          <a:xfrm>
            <a:off x="7239000" y="4495800"/>
            <a:ext cx="3937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239000" y="41910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PO-2375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10414000" y="4178300"/>
            <a:ext cx="736600" cy="177800"/>
          </a:xfrm>
          <a:prstGeom prst="roundRect">
            <a:avLst>
              <a:gd name="adj" fmla="val 14286"/>
            </a:avLst>
          </a:prstGeom>
          <a:solidFill>
            <a:srgbClr val="E7EDFE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414000" y="4178300"/>
            <a:ext cx="736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A3BB8"/>
                </a:solidFill>
              </a:rPr>
              <a:t>IN REVIEW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DDE6F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What happens after today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2222500"/>
            <a:ext cx="254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STEP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6985000" y="2222500"/>
            <a:ext cx="1905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OWNER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9525000" y="2222500"/>
            <a:ext cx="1905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WHEN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62000" y="31242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667000"/>
            <a:ext cx="304800" cy="304800"/>
          </a:xfrm>
          <a:prstGeom prst="ellipse">
            <a:avLst/>
          </a:prstGeom>
          <a:solidFill>
            <a:srgbClr val="0D4EF2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2000" y="2667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70000" y="2717800"/>
            <a:ext cx="508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Share the proposal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85000" y="27432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Zoho team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25000" y="27432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This week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2000" y="38227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3655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2000" y="33655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70000" y="3416300"/>
            <a:ext cx="508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Workshop with your team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85000" y="34417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Both teams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25000" y="34417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Week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2000" y="45212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0640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000" y="4064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70000" y="4114800"/>
            <a:ext cx="508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Pilot app live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85000" y="41402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Your team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25000" y="41402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Week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2000" y="5219700"/>
            <a:ext cx="10668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7625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2000" y="47625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270000" y="4813300"/>
            <a:ext cx="508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Review and scale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85000" y="48387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Both teams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25000" y="48387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Week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g/grad_brand_dep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ttern · Weave (calm)" descr="img/weave_band_blue1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6800"/>
            <a:ext cx="12192000" cy="2032000"/>
          </a:xfrm>
          <a:prstGeom prst="rect">
            <a:avLst/>
          </a:prstGeom>
        </p:spPr>
      </p:pic>
      <p:pic>
        <p:nvPicPr>
          <p:cNvPr id="4" name="Creator logo" descr="img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0" y="1644650"/>
            <a:ext cx="1270000" cy="399915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2286000" y="2349500"/>
            <a:ext cx="7620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6" name="Text 1"/>
          <p:cNvSpPr txBox="1"/>
          <p:nvPr/>
        </p:nvSpPr>
        <p:spPr>
          <a:xfrm>
            <a:off x="2286000" y="30607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DFE"/>
                </a:solidFill>
              </a:rPr>
              <a:t>Questions? Let’s talk.</a:t>
            </a:r>
            <a:endParaRPr lang="en-US" sz="1200" dirty="0"/>
          </a:p>
        </p:txBody>
      </p:sp>
      <p:pic>
        <p:nvPicPr>
          <p:cNvPr id="7" name="Zoho logo" descr="img/zoh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250" y="3556000"/>
            <a:ext cx="1079500" cy="47439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2286000" y="411929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6FD"/>
                </a:solidFill>
              </a:rPr>
              <a:t>© 2026 Zoho Corporation</a:t>
            </a:r>
            <a:endParaRPr lang="en-US" sz="700" dirty="0"/>
          </a:p>
        </p:txBody>
      </p:sp>
      <p:sp>
        <p:nvSpPr>
          <p:cNvPr id="9" name="Text 3"/>
          <p:cNvSpPr txBox="1"/>
          <p:nvPr/>
        </p:nvSpPr>
        <p:spPr>
          <a:xfrm>
            <a:off x="762000" y="5892800"/>
            <a:ext cx="1905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DE6FD"/>
                </a:solidFill>
              </a:rPr>
              <a:t>EMAIL</a:t>
            </a:r>
            <a:endParaRPr lang="en-US" sz="700" dirty="0"/>
          </a:p>
        </p:txBody>
      </p:sp>
      <p:sp>
        <p:nvSpPr>
          <p:cNvPr id="10" name="Text 4"/>
          <p:cNvSpPr txBox="1"/>
          <p:nvPr/>
        </p:nvSpPr>
        <p:spPr>
          <a:xfrm>
            <a:off x="762000" y="60706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name@zohocorp.com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9525000" y="5943600"/>
            <a:ext cx="1905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DE6FD"/>
                </a:solidFill>
              </a:rPr>
              <a:t>WEB</a:t>
            </a:r>
            <a:endParaRPr lang="en-US" sz="700" dirty="0"/>
          </a:p>
        </p:txBody>
      </p:sp>
      <p:sp>
        <p:nvSpPr>
          <p:cNvPr id="12" name="Text 6"/>
          <p:cNvSpPr txBox="1"/>
          <p:nvPr/>
        </p:nvSpPr>
        <p:spPr>
          <a:xfrm>
            <a:off x="9525000" y="6121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zoho.com/creator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22860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4EF2"/>
                </a:solidFill>
              </a:rPr>
              <a:t>EXTRA SLIDES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762000" y="2540000"/>
            <a:ext cx="889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5272C"/>
                </a:solidFill>
              </a:rPr>
              <a:t>Use only when needed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429000"/>
            <a:ext cx="762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Slides 1–30 are the standard deck. The 15 slides after this one are alternatives and extras: copy the ones you need into the main part of your deck, then delete this divider and every extra slide you didn’t use.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g/grad_brand_dep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racket (brand shape)" descr="img/bracket_white.png">    </p:cNvPr>
          <p:cNvPicPr>
            <a:picLocks noChangeAspect="1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7073900" y="-444500"/>
            <a:ext cx="8255000" cy="8255000"/>
          </a:xfrm>
          <a:prstGeom prst="rect">
            <a:avLst/>
          </a:prstGeom>
        </p:spPr>
      </p:pic>
      <p:pic>
        <p:nvPicPr>
          <p:cNvPr id="4" name="Image 2" descr="img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270000" cy="39991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62000" y="209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ED70B"/>
                </a:solidFill>
              </a:rPr>
              <a:t>ZOHOLICS 2026 · KEYNOTE</a:t>
            </a:r>
            <a:endParaRPr lang="en-US" sz="1000" dirty="0"/>
          </a:p>
        </p:txBody>
      </p:sp>
      <p:sp>
        <p:nvSpPr>
          <p:cNvPr id="6" name="Title"/>
          <p:cNvSpPr txBox="1"/>
          <p:nvPr/>
        </p:nvSpPr>
        <p:spPr>
          <a:xfrm>
            <a:off x="762000" y="2413000"/>
            <a:ext cx="698500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The future of building apps with AI</a:t>
            </a:r>
            <a:endParaRPr lang="en-US" sz="4400" dirty="0"/>
          </a:p>
        </p:txBody>
      </p:sp>
      <p:sp>
        <p:nvSpPr>
          <p:cNvPr id="7" name="Shape 2"/>
          <p:cNvSpPr/>
          <p:nvPr/>
        </p:nvSpPr>
        <p:spPr>
          <a:xfrm>
            <a:off x="762000" y="5461000"/>
            <a:ext cx="6985000" cy="63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762000" y="5664200"/>
            <a:ext cx="2159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DE6FD"/>
                </a:solidFill>
              </a:rPr>
              <a:t>DATE</a:t>
            </a:r>
            <a:endParaRPr lang="en-US" sz="700" dirty="0"/>
          </a:p>
        </p:txBody>
      </p:sp>
      <p:sp>
        <p:nvSpPr>
          <p:cNvPr id="9" name="Text 4"/>
          <p:cNvSpPr txBox="1"/>
          <p:nvPr/>
        </p:nvSpPr>
        <p:spPr>
          <a:xfrm>
            <a:off x="762000" y="58420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 November 2026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3175000" y="5664200"/>
            <a:ext cx="2159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DE6FD"/>
                </a:solidFill>
              </a:rPr>
              <a:t>LOCATION</a:t>
            </a:r>
            <a:endParaRPr lang="en-US" sz="700" dirty="0"/>
          </a:p>
        </p:txBody>
      </p:sp>
      <p:sp>
        <p:nvSpPr>
          <p:cNvPr id="11" name="Text 6"/>
          <p:cNvSpPr txBox="1"/>
          <p:nvPr/>
        </p:nvSpPr>
        <p:spPr>
          <a:xfrm>
            <a:off x="3175000" y="58420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Chennai, India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588000" y="5664200"/>
            <a:ext cx="2159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DE6FD"/>
                </a:solidFill>
              </a:rPr>
              <a:t>SPEAKER</a:t>
            </a:r>
            <a:endParaRPr lang="en-US" sz="700" dirty="0"/>
          </a:p>
        </p:txBody>
      </p:sp>
      <p:sp>
        <p:nvSpPr>
          <p:cNvPr id="13" name="Text 8"/>
          <p:cNvSpPr txBox="1"/>
          <p:nvPr/>
        </p:nvSpPr>
        <p:spPr>
          <a:xfrm>
            <a:off x="5588000" y="58420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 · Designation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(replace)" descr="img/photo_office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Navy overlay" descr="img/overlay_navy_l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g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270000" cy="39991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62000" y="22860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ED70B"/>
                </a:solidFill>
              </a:rPr>
              <a:t>PRESENTATION TITLE</a:t>
            </a:r>
            <a:endParaRPr lang="en-US" sz="1000" dirty="0"/>
          </a:p>
        </p:txBody>
      </p:sp>
      <p:sp>
        <p:nvSpPr>
          <p:cNvPr id="6" name="Title"/>
          <p:cNvSpPr txBox="1"/>
          <p:nvPr/>
        </p:nvSpPr>
        <p:spPr>
          <a:xfrm>
            <a:off x="762000" y="2603500"/>
            <a:ext cx="6223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Presentation title on one or two lines</a:t>
            </a:r>
            <a:endParaRPr lang="en-US" sz="4000" dirty="0"/>
          </a:p>
        </p:txBody>
      </p:sp>
      <p:sp>
        <p:nvSpPr>
          <p:cNvPr id="7" name="Text 2"/>
          <p:cNvSpPr txBox="1"/>
          <p:nvPr/>
        </p:nvSpPr>
        <p:spPr>
          <a:xfrm>
            <a:off x="762000" y="3937000"/>
            <a:ext cx="5207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EDFE"/>
                </a:solidFill>
              </a:rPr>
              <a:t>A one-line description of what this presentation covers and who it’s for.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762000" y="5892800"/>
            <a:ext cx="2159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DE6FD"/>
                </a:solidFill>
              </a:rPr>
              <a:t>PRESENTER</a:t>
            </a:r>
            <a:endParaRPr lang="en-US" sz="700" dirty="0"/>
          </a:p>
        </p:txBody>
      </p:sp>
      <p:sp>
        <p:nvSpPr>
          <p:cNvPr id="9" name="Text 4"/>
          <p:cNvSpPr txBox="1"/>
          <p:nvPr/>
        </p:nvSpPr>
        <p:spPr>
          <a:xfrm>
            <a:off x="762000" y="60706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 · Designation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3175000" y="5892800"/>
            <a:ext cx="2159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DE6FD"/>
                </a:solidFill>
              </a:rPr>
              <a:t>DATE</a:t>
            </a:r>
            <a:endParaRPr lang="en-US" sz="700" dirty="0"/>
          </a:p>
        </p:txBody>
      </p:sp>
      <p:sp>
        <p:nvSpPr>
          <p:cNvPr id="11" name="Text 6"/>
          <p:cNvSpPr txBox="1"/>
          <p:nvPr/>
        </p:nvSpPr>
        <p:spPr>
          <a:xfrm>
            <a:off x="3175000" y="60706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 2026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644"/>
          </a:solidFill>
          <a:ln/>
        </p:spPr>
      </p:sp>
      <p:pic>
        <p:nvPicPr>
          <p:cNvPr id="3" name="Pattern · Chain" descr="img/chain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0"/>
            <a:ext cx="152400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2000" y="2413000"/>
            <a:ext cx="1905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ED70B"/>
                </a:solidFill>
              </a:rPr>
              <a:t>01</a:t>
            </a:r>
            <a:endParaRPr lang="en-US" sz="4000" dirty="0"/>
          </a:p>
        </p:txBody>
      </p:sp>
      <p:sp>
        <p:nvSpPr>
          <p:cNvPr id="5" name="Title"/>
          <p:cNvSpPr txBox="1"/>
          <p:nvPr/>
        </p:nvSpPr>
        <p:spPr>
          <a:xfrm>
            <a:off x="762000" y="3048000"/>
            <a:ext cx="889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Section title goes here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62000" y="3810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EDFE"/>
                </a:solidFill>
              </a:rPr>
              <a:t>An optional one-line summary of what this section covers.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02 / THE SOLUTION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One platform. Every app your business will ever need.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3365500"/>
            <a:ext cx="3384550" cy="215900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3365500"/>
            <a:ext cx="50800" cy="21590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3619500"/>
            <a:ext cx="282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DRAG · DROP · DEPLOY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3848100"/>
            <a:ext cx="28257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Visual builder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66800" y="4305300"/>
            <a:ext cx="28257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Design data models, forms and workflows on a canvas. No DevOps queue.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0550" y="3365500"/>
            <a:ext cx="3384550" cy="215900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00550" y="3365500"/>
            <a:ext cx="50800" cy="2159000"/>
          </a:xfrm>
          <a:prstGeom prst="rect">
            <a:avLst/>
          </a:prstGeom>
          <a:solidFill>
            <a:srgbClr val="0788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5350" y="3619500"/>
            <a:ext cx="282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8841"/>
                </a:solidFill>
              </a:rPr>
              <a:t>AUTOMATE · ORCHESTRATE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705350" y="3848100"/>
            <a:ext cx="28257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Workflows + AI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5350" y="4305300"/>
            <a:ext cx="28257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Native automation, approvals and Zia AI for formulas, summaries and insights.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39100" y="3365500"/>
            <a:ext cx="3384550" cy="215900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39100" y="3365500"/>
            <a:ext cx="50800" cy="2159000"/>
          </a:xfrm>
          <a:prstGeom prst="rect">
            <a:avLst/>
          </a:prstGeom>
          <a:solidFill>
            <a:srgbClr val="0416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43900" y="3619500"/>
            <a:ext cx="282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41644"/>
                </a:solidFill>
              </a:rPr>
              <a:t>RUN · ANYWHERE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8343900" y="3848100"/>
            <a:ext cx="28257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Multi-cloud + mobile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43900" y="4305300"/>
            <a:ext cx="28257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Web, iOS and Android out of the box. Deploy on Zoho cloud, AWS or your 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05 / USE CASES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What teams build with Creator.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476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6000" y="2730500"/>
            <a:ext cx="28765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OPERATIONS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933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Field service apps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3263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Inspections, work orders, offline data capture.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0550" y="2476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54550" y="2730500"/>
            <a:ext cx="28765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HR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654550" y="2933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Onboarding and leave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54550" y="3263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New-hire flows, leave approvals, exit checklists.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9100" y="2476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3100" y="2730500"/>
            <a:ext cx="28765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SALES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8293100" y="2933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CRM extensions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93100" y="3263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Custom pipelines, partner portals, deal-room logic.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2000" y="4127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16000" y="4381500"/>
            <a:ext cx="28765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FINANCE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1016000" y="4584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Approvals and spend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16000" y="4914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PO routing, expense claims, vendor onboarding.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0550" y="4127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54550" y="4381500"/>
            <a:ext cx="28765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PROCUREMENT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4654550" y="4584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Vendor management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54550" y="4914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Vendor scoring, contract renewals, RFQ workflows.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39100" y="4127500"/>
            <a:ext cx="3384550" cy="1397000"/>
          </a:xfrm>
          <a:prstGeom prst="roundRect">
            <a:avLst>
              <a:gd name="adj" fmla="val 3636"/>
            </a:avLst>
          </a:prstGeom>
          <a:solidFill>
            <a:srgbClr val="F5F8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93100" y="4381500"/>
            <a:ext cx="28765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4EF2"/>
                </a:solidFill>
              </a:rPr>
              <a:t>CUSTOMER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293100" y="4584700"/>
            <a:ext cx="28765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72C"/>
                </a:solidFill>
              </a:rPr>
              <a:t>Self-service portals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93100" y="4914900"/>
            <a:ext cx="287655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Branded portals for status, tickets and docs.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THE DIFFERENCE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Before and after Creator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4826000" cy="292100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2527300"/>
            <a:ext cx="622300" cy="190500"/>
          </a:xfrm>
          <a:prstGeom prst="roundRect">
            <a:avLst>
              <a:gd name="adj" fmla="val 13333"/>
            </a:avLst>
          </a:prstGeom>
          <a:solidFill>
            <a:srgbClr val="6C6D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527300"/>
            <a:ext cx="6223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BEFORE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28829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Spreadsheets and email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17600" y="3556000"/>
            <a:ext cx="63500" cy="63500"/>
          </a:xfrm>
          <a:prstGeom prst="ellipse">
            <a:avLst/>
          </a:prstGeom>
          <a:solidFill>
            <a:srgbClr val="6C6D7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0800" y="3492500"/>
            <a:ext cx="393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Requests lost in long email threads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17600" y="3962400"/>
            <a:ext cx="63500" cy="63500"/>
          </a:xfrm>
          <a:prstGeom prst="ellipse">
            <a:avLst/>
          </a:prstGeom>
          <a:solidFill>
            <a:srgbClr val="6C6D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0800" y="3898900"/>
            <a:ext cx="393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Copies of the same spreadsheet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17600" y="4368800"/>
            <a:ext cx="63500" cy="63500"/>
          </a:xfrm>
          <a:prstGeom prst="ellipse">
            <a:avLst/>
          </a:prstGeom>
          <a:solidFill>
            <a:srgbClr val="6C6D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0800" y="4305300"/>
            <a:ext cx="393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No view of what’s pending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42000" y="3429000"/>
            <a:ext cx="508000" cy="508000"/>
          </a:xfrm>
          <a:prstGeom prst="ellipse">
            <a:avLst/>
          </a:prstGeom>
          <a:solidFill>
            <a:srgbClr val="0D4E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42000" y="34290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04000" y="2222500"/>
            <a:ext cx="4826000" cy="2921000"/>
          </a:xfrm>
          <a:prstGeom prst="roundRect">
            <a:avLst>
              <a:gd name="adj" fmla="val 1739"/>
            </a:avLst>
          </a:prstGeom>
          <a:solidFill>
            <a:srgbClr val="F5F8FE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8800" y="2527300"/>
            <a:ext cx="552450" cy="190500"/>
          </a:xfrm>
          <a:prstGeom prst="roundRect">
            <a:avLst>
              <a:gd name="adj" fmla="val 13333"/>
            </a:avLst>
          </a:prstGeom>
          <a:solidFill>
            <a:srgbClr val="0D4E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8800" y="2527300"/>
            <a:ext cx="5524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AFTER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6908800" y="28829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One app, real time</a:t>
            </a:r>
            <a:endParaRPr lang="en-US" sz="2000" dirty="0"/>
          </a:p>
        </p:txBody>
      </p:sp>
      <p:pic>
        <p:nvPicPr>
          <p:cNvPr id="20" name="Image 0" descr="img/ic_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800" y="3492500"/>
            <a:ext cx="177800" cy="1778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188200" y="3492500"/>
            <a:ext cx="393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Every request in one place</a:t>
            </a:r>
            <a:endParaRPr lang="en-US" sz="1200" dirty="0"/>
          </a:p>
        </p:txBody>
      </p:sp>
      <p:pic>
        <p:nvPicPr>
          <p:cNvPr id="22" name="Image 1" descr="img/ic_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0" y="3898900"/>
            <a:ext cx="177800" cy="1778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88200" y="3898900"/>
            <a:ext cx="393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One source of truth for the whole team</a:t>
            </a:r>
            <a:endParaRPr lang="en-US" sz="1200" dirty="0"/>
          </a:p>
        </p:txBody>
      </p:sp>
      <p:pic>
        <p:nvPicPr>
          <p:cNvPr id="24" name="Image 2" descr="img/ic_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0" y="4305300"/>
            <a:ext cx="177800" cy="1778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188200" y="4305300"/>
            <a:ext cx="393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Live status and approvals on mobile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g/grad_mid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oter logo" descr="img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4" name="Footer URL"/>
          <p:cNvSpPr txBox="1"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DE6FD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ED70B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6" name="Title"/>
          <p:cNvSpPr txBox="1"/>
          <p:nvPr/>
        </p:nvSpPr>
        <p:spPr>
          <a:xfrm>
            <a:off x="762000" y="1079500"/>
            <a:ext cx="5588000" cy="99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One workspace to build, ship and manage apps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7239000" y="1143000"/>
            <a:ext cx="4191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D1FC"/>
                </a:solidFill>
              </a:rPr>
              <a:t>A one or two line description that sets the context before the reveal.</a:t>
            </a:r>
            <a:endParaRPr lang="en-US" sz="1200" dirty="0"/>
          </a:p>
        </p:txBody>
      </p:sp>
      <p:sp>
        <p:nvSpPr>
          <p:cNvPr id="8" name="Product screenshot (replace)"/>
          <p:cNvSpPr/>
          <p:nvPr/>
        </p:nvSpPr>
        <p:spPr>
          <a:xfrm>
            <a:off x="762000" y="2222500"/>
            <a:ext cx="10668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6FD"/>
            </a:solidFill>
            <a:prstDash val="solid"/>
          </a:ln>
          <a:effectLst>
            <a:outerShdw sx="100000" sy="100000" kx="0" ky="0" algn="bl" rotWithShape="0" blurRad="203200" dist="76200" dir="5400000">
              <a:srgbClr val="041644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62000" y="2222500"/>
            <a:ext cx="106680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762000" y="2349500"/>
            <a:ext cx="10668000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889000" y="2311400"/>
            <a:ext cx="76200" cy="76200"/>
          </a:xfrm>
          <a:prstGeom prst="ellipse">
            <a:avLst/>
          </a:prstGeom>
          <a:solidFill>
            <a:srgbClr val="CC1914"/>
          </a:solidFill>
          <a:ln/>
        </p:spPr>
      </p:sp>
      <p:sp>
        <p:nvSpPr>
          <p:cNvPr id="12" name="Shape 8"/>
          <p:cNvSpPr/>
          <p:nvPr/>
        </p:nvSpPr>
        <p:spPr>
          <a:xfrm>
            <a:off x="1016000" y="2311400"/>
            <a:ext cx="76200" cy="76200"/>
          </a:xfrm>
          <a:prstGeom prst="ellipse">
            <a:avLst/>
          </a:prstGeom>
          <a:solidFill>
            <a:srgbClr val="FED70B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2311400"/>
            <a:ext cx="76200" cy="76200"/>
          </a:xfrm>
          <a:prstGeom prst="ellipse">
            <a:avLst/>
          </a:prstGeom>
          <a:solidFill>
            <a:srgbClr val="078841"/>
          </a:solidFill>
          <a:ln/>
        </p:spPr>
      </p:sp>
      <p:sp>
        <p:nvSpPr>
          <p:cNvPr id="14" name="Shape 10"/>
          <p:cNvSpPr/>
          <p:nvPr/>
        </p:nvSpPr>
        <p:spPr>
          <a:xfrm>
            <a:off x="762000" y="2476500"/>
            <a:ext cx="1397000" cy="3810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65200" y="27686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Home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965200" y="30734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Orders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38200" y="3314700"/>
            <a:ext cx="1244600" cy="25400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65200" y="33782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4EF2"/>
                </a:solidFill>
              </a:rPr>
              <a:t>Approvals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965200" y="36830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Dashboards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965200" y="39878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Customers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965200" y="4292600"/>
            <a:ext cx="107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C60"/>
                </a:solidFill>
              </a:rPr>
              <a:t>Settings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2413000" y="2705100"/>
            <a:ext cx="876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272C"/>
                </a:solidFill>
              </a:rPr>
              <a:t>Operations dashboard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2413000" y="3048000"/>
            <a:ext cx="876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Live · updated 2 min ago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2413000" y="3365500"/>
            <a:ext cx="2853267" cy="660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540000" y="3467100"/>
            <a:ext cx="259926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Pending</a:t>
            </a:r>
            <a:endParaRPr lang="en-US" sz="700" dirty="0"/>
          </a:p>
        </p:txBody>
      </p:sp>
      <p:sp>
        <p:nvSpPr>
          <p:cNvPr id="26" name="Text 22"/>
          <p:cNvSpPr txBox="1"/>
          <p:nvPr/>
        </p:nvSpPr>
        <p:spPr>
          <a:xfrm>
            <a:off x="2540000" y="3644900"/>
            <a:ext cx="25992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EF2"/>
                </a:solidFill>
              </a:rPr>
              <a:t>12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367867" y="3365500"/>
            <a:ext cx="2853267" cy="660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94867" y="3467100"/>
            <a:ext cx="259926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Approved</a:t>
            </a:r>
            <a:endParaRPr lang="en-US" sz="700" dirty="0"/>
          </a:p>
        </p:txBody>
      </p:sp>
      <p:sp>
        <p:nvSpPr>
          <p:cNvPr id="29" name="Text 25"/>
          <p:cNvSpPr txBox="1"/>
          <p:nvPr/>
        </p:nvSpPr>
        <p:spPr>
          <a:xfrm>
            <a:off x="5494867" y="3644900"/>
            <a:ext cx="25992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8841"/>
                </a:solidFill>
              </a:rPr>
              <a:t>48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8322733" y="3365500"/>
            <a:ext cx="2853267" cy="660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449733" y="3467100"/>
            <a:ext cx="259926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Avg. time</a:t>
            </a:r>
            <a:endParaRPr lang="en-US" sz="700" dirty="0"/>
          </a:p>
        </p:txBody>
      </p:sp>
      <p:sp>
        <p:nvSpPr>
          <p:cNvPr id="32" name="Text 28"/>
          <p:cNvSpPr txBox="1"/>
          <p:nvPr/>
        </p:nvSpPr>
        <p:spPr>
          <a:xfrm>
            <a:off x="8449733" y="3644900"/>
            <a:ext cx="25992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1644"/>
                </a:solidFill>
              </a:rPr>
              <a:t>1.4 d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2413000" y="4178300"/>
            <a:ext cx="8763000" cy="1905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413000" y="4178300"/>
            <a:ext cx="8763000" cy="254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2675890" y="42418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Request</a:t>
            </a:r>
            <a:endParaRPr lang="en-US" sz="700" dirty="0"/>
          </a:p>
        </p:txBody>
      </p:sp>
      <p:sp>
        <p:nvSpPr>
          <p:cNvPr id="36" name="Text 32"/>
          <p:cNvSpPr txBox="1"/>
          <p:nvPr/>
        </p:nvSpPr>
        <p:spPr>
          <a:xfrm>
            <a:off x="6356350" y="42418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Requester</a:t>
            </a:r>
            <a:endParaRPr lang="en-US" sz="700" dirty="0"/>
          </a:p>
        </p:txBody>
      </p:sp>
      <p:sp>
        <p:nvSpPr>
          <p:cNvPr id="37" name="Text 33"/>
          <p:cNvSpPr txBox="1"/>
          <p:nvPr/>
        </p:nvSpPr>
        <p:spPr>
          <a:xfrm>
            <a:off x="8196580" y="42418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Amount</a:t>
            </a:r>
            <a:endParaRPr lang="en-US" sz="700" dirty="0"/>
          </a:p>
        </p:txBody>
      </p:sp>
      <p:sp>
        <p:nvSpPr>
          <p:cNvPr id="38" name="Text 34"/>
          <p:cNvSpPr txBox="1"/>
          <p:nvPr/>
        </p:nvSpPr>
        <p:spPr>
          <a:xfrm>
            <a:off x="9598660" y="424180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Status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2413000" y="4771390"/>
            <a:ext cx="876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2675890" y="454787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Laptops for new hires</a:t>
            </a:r>
            <a:endParaRPr lang="en-US" sz="750" dirty="0"/>
          </a:p>
        </p:txBody>
      </p:sp>
      <p:sp>
        <p:nvSpPr>
          <p:cNvPr id="41" name="Text 37"/>
          <p:cNvSpPr txBox="1"/>
          <p:nvPr/>
        </p:nvSpPr>
        <p:spPr>
          <a:xfrm>
            <a:off x="6356350" y="454787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Priya S.</a:t>
            </a:r>
            <a:endParaRPr lang="en-US" sz="750" dirty="0"/>
          </a:p>
        </p:txBody>
      </p:sp>
      <p:sp>
        <p:nvSpPr>
          <p:cNvPr id="42" name="Text 38"/>
          <p:cNvSpPr txBox="1"/>
          <p:nvPr/>
        </p:nvSpPr>
        <p:spPr>
          <a:xfrm>
            <a:off x="8196580" y="454787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4,20,000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9598660" y="4535170"/>
            <a:ext cx="622300" cy="177800"/>
          </a:xfrm>
          <a:prstGeom prst="roundRect">
            <a:avLst>
              <a:gd name="adj" fmla="val 14286"/>
            </a:avLst>
          </a:prstGeom>
          <a:solidFill>
            <a:srgbClr val="FFFADE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598660" y="4535170"/>
            <a:ext cx="6223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25272C"/>
                </a:solidFill>
              </a:rPr>
              <a:t>PENDING</a:t>
            </a:r>
            <a:endParaRPr lang="en-US" sz="600" dirty="0"/>
          </a:p>
        </p:txBody>
      </p:sp>
      <p:sp>
        <p:nvSpPr>
          <p:cNvPr id="45" name="Shape 41"/>
          <p:cNvSpPr/>
          <p:nvPr/>
        </p:nvSpPr>
        <p:spPr>
          <a:xfrm>
            <a:off x="2413000" y="5091430"/>
            <a:ext cx="876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2675890" y="486791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Office chairs</a:t>
            </a:r>
            <a:endParaRPr lang="en-US" sz="750" dirty="0"/>
          </a:p>
        </p:txBody>
      </p:sp>
      <p:sp>
        <p:nvSpPr>
          <p:cNvPr id="47" name="Text 43"/>
          <p:cNvSpPr txBox="1"/>
          <p:nvPr/>
        </p:nvSpPr>
        <p:spPr>
          <a:xfrm>
            <a:off x="6356350" y="486791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Arun K.</a:t>
            </a:r>
            <a:endParaRPr lang="en-US" sz="750" dirty="0"/>
          </a:p>
        </p:txBody>
      </p:sp>
      <p:sp>
        <p:nvSpPr>
          <p:cNvPr id="48" name="Text 44"/>
          <p:cNvSpPr txBox="1"/>
          <p:nvPr/>
        </p:nvSpPr>
        <p:spPr>
          <a:xfrm>
            <a:off x="8196580" y="486791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96,000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9598660" y="485521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9598660" y="485521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413000" y="5411470"/>
            <a:ext cx="876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2675890" y="518795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Cloud credits</a:t>
            </a:r>
            <a:endParaRPr lang="en-US" sz="750" dirty="0"/>
          </a:p>
        </p:txBody>
      </p:sp>
      <p:sp>
        <p:nvSpPr>
          <p:cNvPr id="53" name="Text 49"/>
          <p:cNvSpPr txBox="1"/>
          <p:nvPr/>
        </p:nvSpPr>
        <p:spPr>
          <a:xfrm>
            <a:off x="6356350" y="518795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Meera R.</a:t>
            </a:r>
            <a:endParaRPr lang="en-US" sz="750" dirty="0"/>
          </a:p>
        </p:txBody>
      </p:sp>
      <p:sp>
        <p:nvSpPr>
          <p:cNvPr id="54" name="Text 50"/>
          <p:cNvSpPr txBox="1"/>
          <p:nvPr/>
        </p:nvSpPr>
        <p:spPr>
          <a:xfrm>
            <a:off x="8196580" y="518795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1,50,000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9598660" y="5175250"/>
            <a:ext cx="736600" cy="177800"/>
          </a:xfrm>
          <a:prstGeom prst="roundRect">
            <a:avLst>
              <a:gd name="adj" fmla="val 14286"/>
            </a:avLst>
          </a:prstGeom>
          <a:solidFill>
            <a:srgbClr val="E7EDFE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9598660" y="5175250"/>
            <a:ext cx="7366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A3BB8"/>
                </a:solidFill>
              </a:rPr>
              <a:t>IN REVIEW</a:t>
            </a:r>
            <a:endParaRPr lang="en-US" sz="600" dirty="0"/>
          </a:p>
        </p:txBody>
      </p:sp>
      <p:sp>
        <p:nvSpPr>
          <p:cNvPr id="57" name="Shape 53"/>
          <p:cNvSpPr/>
          <p:nvPr/>
        </p:nvSpPr>
        <p:spPr>
          <a:xfrm>
            <a:off x="2413000" y="5731510"/>
            <a:ext cx="876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2675890" y="550799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Event booth</a:t>
            </a:r>
            <a:endParaRPr lang="en-US" sz="750" dirty="0"/>
          </a:p>
        </p:txBody>
      </p:sp>
      <p:sp>
        <p:nvSpPr>
          <p:cNvPr id="59" name="Text 55"/>
          <p:cNvSpPr txBox="1"/>
          <p:nvPr/>
        </p:nvSpPr>
        <p:spPr>
          <a:xfrm>
            <a:off x="6356350" y="550799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Rahul D.</a:t>
            </a:r>
            <a:endParaRPr lang="en-US" sz="750" dirty="0"/>
          </a:p>
        </p:txBody>
      </p:sp>
      <p:sp>
        <p:nvSpPr>
          <p:cNvPr id="60" name="Text 56"/>
          <p:cNvSpPr txBox="1"/>
          <p:nvPr/>
        </p:nvSpPr>
        <p:spPr>
          <a:xfrm>
            <a:off x="8196580" y="550799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2,40,000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9598660" y="5495290"/>
            <a:ext cx="622300" cy="177800"/>
          </a:xfrm>
          <a:prstGeom prst="roundRect">
            <a:avLst>
              <a:gd name="adj" fmla="val 14286"/>
            </a:avLst>
          </a:prstGeom>
          <a:solidFill>
            <a:srgbClr val="FFFADE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9598660" y="5495290"/>
            <a:ext cx="6223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25272C"/>
                </a:solidFill>
              </a:rPr>
              <a:t>PENDING</a:t>
            </a:r>
            <a:endParaRPr lang="en-US" sz="600" dirty="0"/>
          </a:p>
        </p:txBody>
      </p:sp>
      <p:sp>
        <p:nvSpPr>
          <p:cNvPr id="63" name="Shape 59"/>
          <p:cNvSpPr/>
          <p:nvPr/>
        </p:nvSpPr>
        <p:spPr>
          <a:xfrm>
            <a:off x="2413000" y="6051550"/>
            <a:ext cx="876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2675890" y="582803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272C"/>
                </a:solidFill>
              </a:rPr>
              <a:t>Training licences</a:t>
            </a:r>
            <a:endParaRPr lang="en-US" sz="750" dirty="0"/>
          </a:p>
        </p:txBody>
      </p:sp>
      <p:sp>
        <p:nvSpPr>
          <p:cNvPr id="65" name="Text 61"/>
          <p:cNvSpPr txBox="1"/>
          <p:nvPr/>
        </p:nvSpPr>
        <p:spPr>
          <a:xfrm>
            <a:off x="6356350" y="582803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Anita P.</a:t>
            </a:r>
            <a:endParaRPr lang="en-US" sz="750" dirty="0"/>
          </a:p>
        </p:txBody>
      </p:sp>
      <p:sp>
        <p:nvSpPr>
          <p:cNvPr id="66" name="Text 62"/>
          <p:cNvSpPr txBox="1"/>
          <p:nvPr/>
        </p:nvSpPr>
        <p:spPr>
          <a:xfrm>
            <a:off x="8196580" y="5828030"/>
            <a:ext cx="3505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5272C"/>
                </a:solidFill>
              </a:rPr>
              <a:t>₹ 60,000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9598660" y="5815330"/>
            <a:ext cx="679450" cy="177800"/>
          </a:xfrm>
          <a:prstGeom prst="roundRect">
            <a:avLst>
              <a:gd name="adj" fmla="val 14286"/>
            </a:avLst>
          </a:prstGeom>
          <a:solidFill>
            <a:srgbClr val="EDFDF4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9598660" y="5815330"/>
            <a:ext cx="67945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056B33"/>
                </a:solidFill>
              </a:rPr>
              <a:t>APPROVED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DDE6F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 · Weave" descr="img/weave_white_on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74850" cy="6858000"/>
          </a:xfrm>
          <a:prstGeom prst="rect">
            <a:avLst/>
          </a:prstGeom>
        </p:spPr>
      </p:pic>
      <p:sp>
        <p:nvSpPr>
          <p:cNvPr id="3" name="Screen backdrop"/>
          <p:cNvSpPr/>
          <p:nvPr/>
        </p:nvSpPr>
        <p:spPr>
          <a:xfrm>
            <a:off x="1168400" y="742950"/>
            <a:ext cx="9855200" cy="5378450"/>
          </a:xfrm>
          <a:prstGeom prst="roundRect">
            <a:avLst>
              <a:gd name="adj" fmla="val 2834"/>
            </a:avLst>
          </a:prstGeom>
          <a:solidFill>
            <a:srgbClr val="000000"/>
          </a:solidFill>
          <a:ln/>
        </p:spPr>
      </p:sp>
      <p:sp>
        <p:nvSpPr>
          <p:cNvPr id="4" name="App builder (sample UI, replace)"/>
          <p:cNvSpPr/>
          <p:nvPr/>
        </p:nvSpPr>
        <p:spPr>
          <a:xfrm>
            <a:off x="1346200" y="920750"/>
            <a:ext cx="9499600" cy="5022850"/>
          </a:xfrm>
          <a:prstGeom prst="roundRect">
            <a:avLst>
              <a:gd name="adj" fmla="val 1517"/>
            </a:avLst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1346200" y="920750"/>
            <a:ext cx="94996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473200" y="1022350"/>
            <a:ext cx="76200" cy="76200"/>
          </a:xfrm>
          <a:prstGeom prst="ellipse">
            <a:avLst/>
          </a:prstGeom>
          <a:solidFill>
            <a:srgbClr val="CC1914"/>
          </a:solidFill>
          <a:ln/>
        </p:spPr>
      </p:sp>
      <p:sp>
        <p:nvSpPr>
          <p:cNvPr id="7" name="Shape 4"/>
          <p:cNvSpPr/>
          <p:nvPr/>
        </p:nvSpPr>
        <p:spPr>
          <a:xfrm>
            <a:off x="1600200" y="1022350"/>
            <a:ext cx="76200" cy="76200"/>
          </a:xfrm>
          <a:prstGeom prst="ellipse">
            <a:avLst/>
          </a:prstGeom>
          <a:solidFill>
            <a:srgbClr val="FED70B"/>
          </a:solidFill>
          <a:ln/>
        </p:spPr>
      </p:sp>
      <p:sp>
        <p:nvSpPr>
          <p:cNvPr id="8" name="Shape 5"/>
          <p:cNvSpPr/>
          <p:nvPr/>
        </p:nvSpPr>
        <p:spPr>
          <a:xfrm>
            <a:off x="1727200" y="1022350"/>
            <a:ext cx="76200" cy="76200"/>
          </a:xfrm>
          <a:prstGeom prst="ellipse">
            <a:avLst/>
          </a:prstGeom>
          <a:solidFill>
            <a:srgbClr val="0788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81200" y="996950"/>
            <a:ext cx="3810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Purchase request · Form builder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346200" y="1200150"/>
            <a:ext cx="1587500" cy="4743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98600" y="1352550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FIELDS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498600" y="15557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00200" y="16256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Single line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498600" y="18986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00200" y="19685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Email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498600" y="22415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00200" y="23114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Number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498600" y="25844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600200" y="26543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Date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498600" y="29273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600200" y="29972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Dropdown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498600" y="32702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00200" y="33401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Lookup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498600" y="36131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600200" y="36830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File upload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498600" y="3956050"/>
            <a:ext cx="1282700" cy="2794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00200" y="4025900"/>
            <a:ext cx="10795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Signature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940800" y="1200150"/>
            <a:ext cx="1905000" cy="4743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093200" y="135255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PROPERTIES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9093200" y="158115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Field name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9093200" y="173355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69400" y="179070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Quantity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9093200" y="211455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Type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9093200" y="226695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69400" y="232410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Number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9093200" y="264795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Required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93200" y="280035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69400" y="285750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Yes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9093200" y="318135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Min value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9093200" y="3333750"/>
            <a:ext cx="16002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69400" y="3390900"/>
            <a:ext cx="1397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272C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187700" y="1403350"/>
            <a:ext cx="5499100" cy="4337050"/>
          </a:xfrm>
          <a:prstGeom prst="roundRect">
            <a:avLst>
              <a:gd name="adj" fmla="val 1171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441700" y="1606550"/>
            <a:ext cx="499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Purchase request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3441700" y="208915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Item name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441700" y="2279650"/>
            <a:ext cx="49911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7D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441700" y="269875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Quantity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441700" y="2889250"/>
            <a:ext cx="49911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D4EF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441700" y="330835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Department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3441700" y="3498850"/>
            <a:ext cx="49911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7D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441700" y="3917950"/>
            <a:ext cx="19050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72C"/>
                </a:solidFill>
              </a:rPr>
              <a:t>Needed by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441700" y="4108450"/>
            <a:ext cx="4991100" cy="2921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7D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441700" y="5232400"/>
            <a:ext cx="1016000" cy="304800"/>
          </a:xfrm>
          <a:prstGeom prst="roundRect">
            <a:avLst>
              <a:gd name="adj" fmla="val 8333"/>
            </a:avLst>
          </a:prstGeom>
          <a:solidFill>
            <a:srgbClr val="E81D17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3441700" y="52324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Submit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How the platform fits together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095500"/>
            <a:ext cx="10668000" cy="787400"/>
          </a:xfrm>
          <a:prstGeom prst="roundRect">
            <a:avLst>
              <a:gd name="adj" fmla="val 6452"/>
            </a:avLst>
          </a:prstGeom>
          <a:solidFill>
            <a:srgbClr val="0D4EF2"/>
          </a:solidFill>
          <a:ln/>
        </p:spPr>
      </p:sp>
      <p:pic>
        <p:nvPicPr>
          <p:cNvPr id="5" name="Image 0" descr="img/ic_Devic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349500"/>
            <a:ext cx="279400" cy="279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000" y="22352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Experience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24000" y="2565400"/>
            <a:ext cx="635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EDFE"/>
                </a:solidFill>
              </a:rPr>
              <a:t>Web, mobile and portals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2000" y="3009900"/>
            <a:ext cx="10668000" cy="787400"/>
          </a:xfrm>
          <a:prstGeom prst="roundRect">
            <a:avLst>
              <a:gd name="adj" fmla="val 6452"/>
            </a:avLst>
          </a:prstGeom>
          <a:solidFill>
            <a:srgbClr val="6991F7"/>
          </a:solidFill>
          <a:ln/>
        </p:spPr>
      </p:sp>
      <p:pic>
        <p:nvPicPr>
          <p:cNvPr id="9" name="Image 1" descr="img/ic_Fl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6390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24000" y="31496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Logic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524000" y="3479800"/>
            <a:ext cx="635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EDFE"/>
                </a:solidFill>
              </a:rPr>
              <a:t>Workflows, rules and AI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2000" y="3924300"/>
            <a:ext cx="10668000" cy="787400"/>
          </a:xfrm>
          <a:prstGeom prst="roundRect">
            <a:avLst>
              <a:gd name="adj" fmla="val 6452"/>
            </a:avLst>
          </a:prstGeom>
          <a:solidFill>
            <a:srgbClr val="C0D1FC"/>
          </a:solidFill>
          <a:ln/>
        </p:spPr>
      </p:sp>
      <p:pic>
        <p:nvPicPr>
          <p:cNvPr id="13" name="Image 2" descr="img/ic_Databas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178300"/>
            <a:ext cx="279400" cy="279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24000" y="40640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Data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524000" y="4394200"/>
            <a:ext cx="635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Forms, records and reports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62000" y="4838700"/>
            <a:ext cx="10668000" cy="787400"/>
          </a:xfrm>
          <a:prstGeom prst="roundRect">
            <a:avLst>
              <a:gd name="adj" fmla="val 6452"/>
            </a:avLst>
          </a:prstGeom>
          <a:solidFill>
            <a:srgbClr val="E7EDFE"/>
          </a:solidFill>
          <a:ln/>
        </p:spPr>
      </p:sp>
      <p:pic>
        <p:nvPicPr>
          <p:cNvPr id="17" name="Image 3" descr="img/ic_Plug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0927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24000" y="49784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72C"/>
                </a:solidFill>
              </a:rPr>
              <a:t>Integrations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524000" y="5308600"/>
            <a:ext cx="635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ERP, CRM and APIs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GROWTH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Monthly active users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70000" y="51435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50673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0k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270000" y="45593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2000" y="44831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10k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70000" y="39751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2000" y="38989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20k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270000" y="33909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2000" y="33147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30k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270000" y="28067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2000" y="27305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40k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270000" y="2222500"/>
            <a:ext cx="10033000" cy="63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2000" y="2146300"/>
            <a:ext cx="40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50k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016000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Jan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928091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Feb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840182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Mar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3752273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Apr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4664364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May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576455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Jun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6488545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Jul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7400636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Aug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8312727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Sep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9224818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Oct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10136909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Nov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11049000" y="52451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Dec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 flipV="1">
            <a:off x="1270000" y="461772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182091" y="455930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094182" y="450088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4006273" y="444246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918364" y="438404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830455" y="4267200"/>
            <a:ext cx="912091" cy="11684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742545" y="420878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654636" y="415036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566727" y="409194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9478818" y="3975100"/>
            <a:ext cx="912091" cy="11684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0390909" y="3916680"/>
            <a:ext cx="912091" cy="58420"/>
          </a:xfrm>
          <a:prstGeom prst="line">
            <a:avLst/>
          </a:prstGeom>
          <a:noFill/>
          <a:ln w="25400">
            <a:solidFill>
              <a:srgbClr val="C0D1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31900" y="463804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3991" y="457962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56082" y="452120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68173" y="446278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80264" y="440436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92355" y="434594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04445" y="422910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16536" y="417068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28627" y="411226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40718" y="405384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52809" y="393700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64900" y="387858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D1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270000" y="4325620"/>
            <a:ext cx="912091" cy="11684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2182091" y="4267200"/>
            <a:ext cx="912091" cy="5842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3094182" y="4091940"/>
            <a:ext cx="912091" cy="17526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006273" y="3975100"/>
            <a:ext cx="912091" cy="11684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918364" y="3799840"/>
            <a:ext cx="912091" cy="17526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5830455" y="3624580"/>
            <a:ext cx="912091" cy="17526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742545" y="3507740"/>
            <a:ext cx="912091" cy="11684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7654636" y="3332480"/>
            <a:ext cx="912091" cy="17526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566727" y="3157220"/>
            <a:ext cx="912091" cy="17526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9478818" y="2981960"/>
            <a:ext cx="912091" cy="17526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390909" y="2748280"/>
            <a:ext cx="912091" cy="233680"/>
          </a:xfrm>
          <a:prstGeom prst="line">
            <a:avLst/>
          </a:prstGeom>
          <a:noFill/>
          <a:ln w="38100">
            <a:solidFill>
              <a:srgbClr val="0D4E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31900" y="440436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43991" y="428752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56082" y="422910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68173" y="405384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80264" y="393700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92355" y="376174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04445" y="358648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16536" y="346964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28627" y="329438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40718" y="311912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52809" y="294386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264900" y="271018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4E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270000" y="5588000"/>
            <a:ext cx="101600" cy="254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447800" y="55245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272C"/>
                </a:solidFill>
              </a:rPr>
              <a:t>2026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286000" y="5588000"/>
            <a:ext cx="101600" cy="25400"/>
          </a:xfrm>
          <a:prstGeom prst="rect">
            <a:avLst/>
          </a:prstGeom>
          <a:solidFill>
            <a:srgbClr val="C0D1FC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2463800" y="55245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272C"/>
                </a:solidFill>
              </a:rPr>
              <a:t>2025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07 / ROI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The math your CFO wants to see.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476500"/>
            <a:ext cx="2571750" cy="76200"/>
          </a:xfrm>
          <a:prstGeom prst="rect">
            <a:avLst/>
          </a:prstGeom>
          <a:solidFill>
            <a:srgbClr val="0D4EF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552700"/>
            <a:ext cx="2571750" cy="2413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6000" y="28067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4EF2"/>
                </a:solidFill>
              </a:rPr>
              <a:t>10×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16000" y="34747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faster app delivery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16000" y="4000500"/>
            <a:ext cx="2063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vs. traditional development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60750" y="2476500"/>
            <a:ext cx="2571750" cy="76200"/>
          </a:xfrm>
          <a:prstGeom prst="rect">
            <a:avLst/>
          </a:prstGeom>
          <a:solidFill>
            <a:srgbClr val="078841"/>
          </a:solidFill>
          <a:ln/>
        </p:spPr>
      </p:sp>
      <p:sp>
        <p:nvSpPr>
          <p:cNvPr id="10" name="Shape 8"/>
          <p:cNvSpPr/>
          <p:nvPr/>
        </p:nvSpPr>
        <p:spPr>
          <a:xfrm>
            <a:off x="3460750" y="2552700"/>
            <a:ext cx="2571750" cy="2413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14750" y="28067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78841"/>
                </a:solidFill>
              </a:rPr>
              <a:t>70%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34747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lower cost per app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14750" y="4000500"/>
            <a:ext cx="2063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average customer report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59500" y="2476500"/>
            <a:ext cx="2571750" cy="76200"/>
          </a:xfrm>
          <a:prstGeom prst="rect">
            <a:avLst/>
          </a:prstGeom>
          <a:solidFill>
            <a:srgbClr val="FED70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59500" y="2552700"/>
            <a:ext cx="2571750" cy="2413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3500" y="28067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41644"/>
                </a:solidFill>
              </a:rPr>
              <a:t>3 wk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413500" y="34747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from idea to live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13500" y="4000500"/>
            <a:ext cx="2063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median for first app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858250" y="2476500"/>
            <a:ext cx="2571750" cy="76200"/>
          </a:xfrm>
          <a:prstGeom prst="rect">
            <a:avLst/>
          </a:prstGeom>
          <a:solidFill>
            <a:srgbClr val="041644"/>
          </a:solidFill>
          <a:ln/>
        </p:spPr>
      </p:sp>
      <p:sp>
        <p:nvSpPr>
          <p:cNvPr id="20" name="Shape 18"/>
          <p:cNvSpPr/>
          <p:nvPr/>
        </p:nvSpPr>
        <p:spPr>
          <a:xfrm>
            <a:off x="8858250" y="2552700"/>
            <a:ext cx="2571750" cy="2413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12250" y="2806700"/>
            <a:ext cx="2667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5272C"/>
                </a:solidFill>
              </a:rPr>
              <a:t>0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9112250" y="347472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72C"/>
                </a:solidFill>
              </a:rPr>
              <a:t>headcount added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12250" y="4000500"/>
            <a:ext cx="2063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scale through citizen developers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From visitor to customer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222500"/>
            <a:ext cx="6985000" cy="685800"/>
          </a:xfrm>
          <a:prstGeom prst="roundRect">
            <a:avLst>
              <a:gd name="adj" fmla="val 7407"/>
            </a:avLst>
          </a:prstGeom>
          <a:solidFill>
            <a:srgbClr val="E7ED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5200" y="2451100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Visitors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38800" y="24511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120,000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5588000" cy="685800"/>
          </a:xfrm>
          <a:prstGeom prst="roundRect">
            <a:avLst>
              <a:gd name="adj" fmla="val 7407"/>
            </a:avLst>
          </a:prstGeom>
          <a:solidFill>
            <a:srgbClr val="C0D1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5200" y="3276600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Sign-ups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41800" y="32766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272C"/>
                </a:solidFill>
              </a:rPr>
              <a:t>18,400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55000" y="3302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15% of visitors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3873500"/>
            <a:ext cx="4191000" cy="685800"/>
          </a:xfrm>
          <a:prstGeom prst="roundRect">
            <a:avLst>
              <a:gd name="adj" fmla="val 7407"/>
            </a:avLst>
          </a:prstGeom>
          <a:solidFill>
            <a:srgbClr val="6991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5200" y="4102100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Active trials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44800" y="41021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7,600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5000" y="41275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41% of sign-ups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699000"/>
            <a:ext cx="2794000" cy="685800"/>
          </a:xfrm>
          <a:prstGeom prst="roundRect">
            <a:avLst>
              <a:gd name="adj" fmla="val 7407"/>
            </a:avLst>
          </a:prstGeom>
          <a:solidFill>
            <a:srgbClr val="0D4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5200" y="4927600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47800" y="4927600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2,100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55000" y="4953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28% of trials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825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D4EF2"/>
                </a:solidFill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2000" y="1016000"/>
            <a:ext cx="889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How Creator compares</a:t>
            </a:r>
            <a:endParaRPr lang="en-US" sz="3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0668000" cy="914400"/>
        </p:xfrm>
        <a:graphic>
          <a:graphicData uri="http://schemas.openxmlformats.org/drawingml/2006/table">
            <a:tbl>
              <a:tblPr/>
              <a:tblGrid>
                <a:gridCol w="3556000"/>
                <a:gridCol w="2368550"/>
                <a:gridCol w="2368550"/>
                <a:gridCol w="23749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6D7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Capability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4EF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Zoho Creator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C6D7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Traditional development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C6D7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Spreadsheets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Time to first app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4EF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Days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Months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Days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Mobile apps included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4EF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Yes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Extra cost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Workflows and approvals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4EF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 in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Custom code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Manual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Security and access control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4EF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Role-based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Custom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Limited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Changes after launch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4EF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Minutes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Weeks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5272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Risky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E"/>
          </a:solidFill>
          <a:ln/>
        </p:spPr>
      </p:sp>
      <p:pic>
        <p:nvPicPr>
          <p:cNvPr id="3" name="Footer logo" descr="img/logo_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451600"/>
            <a:ext cx="762000" cy="239949"/>
          </a:xfrm>
          <a:prstGeom prst="rect">
            <a:avLst/>
          </a:prstGeom>
        </p:spPr>
      </p:pic>
      <p:sp>
        <p:nvSpPr>
          <p:cNvPr id="4" name="Footer URL"/>
          <p:cNvSpPr txBox="1"/>
          <p:nvPr/>
        </p:nvSpPr>
        <p:spPr>
          <a:xfrm>
            <a:off x="8255000" y="6451600"/>
            <a:ext cx="254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6D71"/>
                </a:solidFill>
              </a:rPr>
              <a:t>zoho.com/creator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1524000" y="1206500"/>
            <a:ext cx="101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4EF2"/>
                </a:solidFill>
              </a:rPr>
              <a:t>“</a:t>
            </a:r>
            <a:endParaRPr lang="en-US" sz="6000" dirty="0"/>
          </a:p>
        </p:txBody>
      </p:sp>
      <p:sp>
        <p:nvSpPr>
          <p:cNvPr id="6" name="Quote"/>
          <p:cNvSpPr txBox="1"/>
          <p:nvPr/>
        </p:nvSpPr>
        <p:spPr>
          <a:xfrm>
            <a:off x="1524000" y="1968500"/>
            <a:ext cx="9144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25272C"/>
                </a:solidFill>
              </a:rPr>
              <a:t>This product completely transformed the way our team builds and ships internal tools.</a:t>
            </a:r>
            <a:endParaRPr lang="en-US" sz="3600" dirty="0"/>
          </a:p>
        </p:txBody>
      </p:sp>
      <p:pic>
        <p:nvPicPr>
          <p:cNvPr id="7" name="Photo (replace)" descr="img/avatar_wom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127500"/>
            <a:ext cx="609600" cy="609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86000" y="42291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Full Name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286000" y="4445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D71"/>
                </a:solidFill>
              </a:rPr>
              <a:t>Designation, Company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508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C6D7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 · Signature" descr="img/signature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0" y="609600"/>
            <a:ext cx="4318000" cy="56388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62000" y="1905000"/>
            <a:ext cx="63500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5272C"/>
                </a:solidFill>
              </a:rPr>
              <a:t>Questions?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62000" y="2667000"/>
            <a:ext cx="558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C60"/>
                </a:solidFill>
              </a:rPr>
              <a:t>Thank you for your time. Let’s keep the conversation going.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62000" y="3276600"/>
            <a:ext cx="254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SPEAKER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762000" y="34417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Name · Designation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62000" y="3822700"/>
            <a:ext cx="254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EMAIL</a:t>
            </a:r>
            <a:endParaRPr lang="en-US" sz="700" dirty="0"/>
          </a:p>
        </p:txBody>
      </p:sp>
      <p:sp>
        <p:nvSpPr>
          <p:cNvPr id="8" name="Text 5"/>
          <p:cNvSpPr txBox="1"/>
          <p:nvPr/>
        </p:nvSpPr>
        <p:spPr>
          <a:xfrm>
            <a:off x="762000" y="39878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name@zohocorp.com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2000" y="4368800"/>
            <a:ext cx="254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6D71"/>
                </a:solidFill>
              </a:rPr>
              <a:t>WEB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762000" y="45339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72C"/>
                </a:solidFill>
              </a:rPr>
              <a:t>zoho.com/creator</a:t>
            </a:r>
            <a:endParaRPr lang="en-US" sz="1000" dirty="0"/>
          </a:p>
        </p:txBody>
      </p:sp>
      <p:pic>
        <p:nvPicPr>
          <p:cNvPr id="11" name="Zoho logo" descr="img/zoho_col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588000"/>
            <a:ext cx="952500" cy="41857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41500" y="5727440"/>
            <a:ext cx="254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© 2026 Zoho Corporation</a:t>
            </a:r>
            <a:endParaRPr lang="en-US" sz="700" dirty="0"/>
          </a:p>
        </p:txBody>
      </p:sp>
      <p:sp>
        <p:nvSpPr>
          <p:cNvPr id="13" name="QR code (replace)"/>
          <p:cNvSpPr/>
          <p:nvPr/>
        </p:nvSpPr>
        <p:spPr>
          <a:xfrm>
            <a:off x="3937000" y="3276600"/>
            <a:ext cx="1143000" cy="1143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6D7D8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3937000" y="37719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6D71"/>
                </a:solidFill>
              </a:rPr>
              <a:t>QR code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937000" y="449580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D71"/>
                </a:solidFill>
              </a:rPr>
              <a:t>Scan to book a demo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S 2.0 · Zoho Creator">
  <a:themeElements>
    <a:clrScheme name="CDS 2.0 · Zoho Creator">
      <a:dk1>
        <a:srgbClr val="25272C"/>
      </a:dk1>
      <a:lt1>
        <a:srgbClr val="FFFFFF"/>
      </a:lt1>
      <a:dk2>
        <a:srgbClr val="041644"/>
      </a:dk2>
      <a:lt2>
        <a:srgbClr val="F5F8FE"/>
      </a:lt2>
      <a:accent1>
        <a:srgbClr val="0D4EF2"/>
      </a:accent1>
      <a:accent2>
        <a:srgbClr val="078841"/>
      </a:accent2>
      <a:accent3>
        <a:srgbClr val="FED70B"/>
      </a:accent3>
      <a:accent4>
        <a:srgbClr val="5E05FF"/>
      </a:accent4>
      <a:accent5>
        <a:srgbClr val="E81D17"/>
      </a:accent5>
      <a:accent6>
        <a:srgbClr val="8F9193"/>
      </a:accent6>
      <a:hlink>
        <a:srgbClr val="0D4EF2"/>
      </a:hlink>
      <a:folHlink>
        <a:srgbClr val="0A3BB8"/>
      </a:folHlink>
    </a:clrScheme>
    <a:fontScheme name="CDS 2.0 · Zoho Creator">
      <a:majorFont>
        <a:latin typeface="Zoho Puv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Zoho Puv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Zoho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Zoho Creator · Deck template with extra slides (CDS 2.0)</dc:title>
  <dc:subject>PptxGenJS Presentation</dc:subject>
  <dc:creator>Zoho Creator marketing</dc:creator>
  <cp:lastModifiedBy>Zoho Creator marketing</cp:lastModifiedBy>
  <cp:revision>1</cp:revision>
  <dcterms:created xsi:type="dcterms:W3CDTF">2026-10-28T06:18:24Z</dcterms:created>
  <dcterms:modified xsi:type="dcterms:W3CDTF">2026-10-28T06:18:24Z</dcterms:modified>
</cp:coreProperties>
</file>